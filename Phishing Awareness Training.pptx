
<file path=[Content_Types].xml><?xml version="1.0" encoding="utf-8"?>
<Types xmlns="http://schemas.openxmlformats.org/package/2006/content-types">
  <Default Extension="photo-1605360846282-023d330bad8d" ContentType="image/photo-1605360846282-023d330bad8d"/>
  <Default Extension="photo-1752069005653-d6ffdf06a0ae" ContentType="image/photo-1752069005653-d6ffdf06a0a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0683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41D87-17D4-F882-9E29-4548263B8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9E5636-1B45-81BC-D97F-E0AEC6404D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C0C7E4-6F95-C5B9-F3C1-08A92510EC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7589A1-E6B9-F606-99FC-C35DC1DB934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297950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hoto-1752069005653-d6ffdf06a0ae"/><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hoto-1605360846282-023d330bad8d"/><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1A"/>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rcRect/>
          <a:stretch/>
        </p:blipFill>
        <p:spPr>
          <a:xfrm>
            <a:off x="2031949" y="1015975"/>
            <a:ext cx="7112051" cy="50799"/>
          </a:xfrm>
          <a:prstGeom prst="rect">
            <a:avLst/>
          </a:prstGeom>
        </p:spPr>
      </p:pic>
      <p:sp>
        <p:nvSpPr>
          <p:cNvPr id="4" name="Text 0"/>
          <p:cNvSpPr/>
          <p:nvPr/>
        </p:nvSpPr>
        <p:spPr>
          <a:xfrm>
            <a:off x="761981" y="1479410"/>
            <a:ext cx="10667733" cy="1452844"/>
          </a:xfrm>
          <a:prstGeom prst="rect">
            <a:avLst/>
          </a:prstGeom>
          <a:noFill/>
          <a:ln/>
        </p:spPr>
        <p:txBody>
          <a:bodyPr wrap="square" lIns="0" tIns="0" rIns="0" bIns="0" rtlCol="0" anchor="t"/>
          <a:lstStyle/>
          <a:p>
            <a:pPr marL="0" indent="0" algn="ctr">
              <a:lnSpc>
                <a:spcPct val="130000"/>
              </a:lnSpc>
              <a:buNone/>
            </a:pPr>
            <a:r>
              <a:rPr lang="en-US" sz="4000" b="1" dirty="0">
                <a:solidFill>
                  <a:srgbClr val="00FFFF"/>
                </a:solidFill>
                <a:latin typeface="Calibri" pitchFamily="34" charset="0"/>
                <a:ea typeface="Calibri" pitchFamily="34" charset="-122"/>
                <a:cs typeface="Calibri" pitchFamily="34" charset="-120"/>
              </a:rPr>
              <a:t>Introduction to Advanced Phishing Awareness Training</a:t>
            </a:r>
            <a:r>
              <a:rPr lang="en-US" sz="4000" dirty="0">
                <a:solidFill>
                  <a:srgbClr val="00FFFF"/>
                </a:solidFill>
                <a:latin typeface="Calibri" pitchFamily="34" charset="0"/>
                <a:ea typeface="Calibri" pitchFamily="34" charset="-122"/>
                <a:cs typeface="Calibri" pitchFamily="34" charset="-120"/>
              </a:rPr>
              <a:t>
</a:t>
            </a:r>
            <a:endParaRPr lang="en-US" sz="4000" dirty="0"/>
          </a:p>
        </p:txBody>
      </p:sp>
      <p:sp>
        <p:nvSpPr>
          <p:cNvPr id="5" name="Text 1"/>
          <p:cNvSpPr/>
          <p:nvPr/>
        </p:nvSpPr>
        <p:spPr>
          <a:xfrm>
            <a:off x="761981" y="2997696"/>
            <a:ext cx="10667733" cy="594345"/>
          </a:xfrm>
          <a:prstGeom prst="rect">
            <a:avLst/>
          </a:prstGeom>
          <a:noFill/>
          <a:ln/>
        </p:spPr>
        <p:txBody>
          <a:bodyPr wrap="square" lIns="0" tIns="0" rIns="0" bIns="0" rtlCol="0" anchor="t"/>
          <a:lstStyle/>
          <a:p>
            <a:pPr marL="0" indent="0" algn="ctr">
              <a:lnSpc>
                <a:spcPct val="130000"/>
              </a:lnSpc>
              <a:buNone/>
            </a:pPr>
            <a:r>
              <a:rPr lang="en-US" sz="1600" i="1" dirty="0">
                <a:solidFill>
                  <a:srgbClr val="B0B0B0"/>
                </a:solidFill>
                <a:latin typeface="Calibri" pitchFamily="34" charset="0"/>
                <a:ea typeface="Calibri" pitchFamily="34" charset="-122"/>
                <a:cs typeface="Calibri" pitchFamily="34" charset="-120"/>
              </a:rPr>
              <a:t>A comprehensive guide for Advanced IT Security Analysts</a:t>
            </a:r>
            <a:r>
              <a:rPr lang="en-US" sz="1600" dirty="0">
                <a:solidFill>
                  <a:srgbClr val="B0B0B0"/>
                </a:solidFill>
                <a:latin typeface="Calibri" pitchFamily="34" charset="0"/>
                <a:ea typeface="Calibri" pitchFamily="34" charset="-122"/>
                <a:cs typeface="Calibri" pitchFamily="34" charset="-120"/>
              </a:rPr>
              <a:t>
</a:t>
            </a:r>
            <a:endParaRPr lang="en-US" sz="1600" dirty="0"/>
          </a:p>
        </p:txBody>
      </p:sp>
      <p:sp>
        <p:nvSpPr>
          <p:cNvPr id="6" name="Text 2"/>
          <p:cNvSpPr/>
          <p:nvPr/>
        </p:nvSpPr>
        <p:spPr>
          <a:xfrm>
            <a:off x="761981" y="4053272"/>
            <a:ext cx="10667733" cy="380990"/>
          </a:xfrm>
          <a:prstGeom prst="rect">
            <a:avLst/>
          </a:prstGeom>
          <a:noFill/>
          <a:ln/>
        </p:spPr>
        <p:txBody>
          <a:bodyPr wrap="square" lIns="0" tIns="0" rIns="0" bIns="0" rtlCol="0" anchor="t"/>
          <a:lstStyle/>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PRESENTED BY
</a:t>
            </a:r>
            <a:endParaRPr lang="en-US" sz="1100" dirty="0"/>
          </a:p>
        </p:txBody>
      </p:sp>
      <p:sp>
        <p:nvSpPr>
          <p:cNvPr id="7" name="Text 3"/>
          <p:cNvSpPr/>
          <p:nvPr/>
        </p:nvSpPr>
        <p:spPr>
          <a:xfrm>
            <a:off x="761980" y="4287114"/>
            <a:ext cx="10667733" cy="507987"/>
          </a:xfrm>
          <a:prstGeom prst="rect">
            <a:avLst/>
          </a:prstGeom>
          <a:noFill/>
          <a:ln/>
        </p:spPr>
        <p:txBody>
          <a:bodyPr wrap="square" lIns="0" tIns="0" rIns="0" bIns="0" rtlCol="0" anchor="t"/>
          <a:lstStyle/>
          <a:p>
            <a:pPr marL="0" indent="0" algn="ctr">
              <a:lnSpc>
                <a:spcPct val="130000"/>
              </a:lnSpc>
              <a:buNone/>
            </a:pPr>
            <a:r>
              <a:rPr lang="en-US" sz="2200" dirty="0">
                <a:solidFill>
                  <a:srgbClr val="FFFFFF"/>
                </a:solidFill>
                <a:latin typeface="Calibri" pitchFamily="34" charset="0"/>
                <a:ea typeface="Calibri" pitchFamily="34" charset="-122"/>
                <a:cs typeface="Calibri" pitchFamily="34" charset="-120"/>
              </a:rPr>
              <a:t>Patel Mahi Parimal</a:t>
            </a:r>
            <a:endParaRPr lang="en-US" sz="2200" dirty="0"/>
          </a:p>
        </p:txBody>
      </p:sp>
      <p:sp>
        <p:nvSpPr>
          <p:cNvPr id="8" name="Text 4"/>
          <p:cNvSpPr/>
          <p:nvPr/>
        </p:nvSpPr>
        <p:spPr>
          <a:xfrm>
            <a:off x="761981" y="4827822"/>
            <a:ext cx="10667733" cy="457189"/>
          </a:xfrm>
          <a:prstGeom prst="rect">
            <a:avLst/>
          </a:prstGeom>
          <a:noFill/>
          <a:ln/>
        </p:spPr>
        <p:txBody>
          <a:bodyPr wrap="square" lIns="0" tIns="0" rIns="0" bIns="0" rtlCol="0" anchor="t"/>
          <a:lstStyle/>
          <a:p>
            <a:pPr marL="0" indent="0" algn="ctr">
              <a:lnSpc>
                <a:spcPct val="130000"/>
              </a:lnSpc>
              <a:buNone/>
            </a:pPr>
            <a:r>
              <a:rPr lang="en-US" dirty="0">
                <a:solidFill>
                  <a:srgbClr val="FFD700"/>
                </a:solidFill>
                <a:latin typeface="Calibri" pitchFamily="34" charset="0"/>
                <a:ea typeface="Calibri" pitchFamily="34" charset="-122"/>
                <a:cs typeface="Calibri" pitchFamily="34" charset="-120"/>
              </a:rPr>
              <a:t>GSFC University</a:t>
            </a:r>
            <a:r>
              <a:rPr lang="en-US" sz="1800" dirty="0">
                <a:solidFill>
                  <a:srgbClr val="FFD700"/>
                </a:solidFill>
                <a:latin typeface="Calibri" pitchFamily="34" charset="0"/>
                <a:ea typeface="Calibri" pitchFamily="34" charset="-122"/>
                <a:cs typeface="Calibri" pitchFamily="34" charset="-120"/>
              </a:rPr>
              <a:t>
</a:t>
            </a:r>
            <a:endParaRPr lang="en-US" sz="1800" dirty="0"/>
          </a:p>
        </p:txBody>
      </p:sp>
      <p:sp>
        <p:nvSpPr>
          <p:cNvPr id="9" name="Text 5"/>
          <p:cNvSpPr/>
          <p:nvPr/>
        </p:nvSpPr>
        <p:spPr>
          <a:xfrm>
            <a:off x="761981" y="4381390"/>
            <a:ext cx="10667733" cy="380990"/>
          </a:xfrm>
          <a:prstGeom prst="rect">
            <a:avLst/>
          </a:prstGeom>
          <a:noFill/>
          <a:ln/>
        </p:spPr>
        <p:txBody>
          <a:bodyPr wrap="square" lIns="0" tIns="0" rIns="0" bIns="0" rtlCol="0" anchor="t"/>
          <a:lstStyle/>
          <a:p>
            <a:pPr marL="0" indent="0" algn="ctr">
              <a:lnSpc>
                <a:spcPct val="130000"/>
              </a:lnSpc>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1A"/>
        </a:solidFill>
        <a:effectLst/>
      </p:bgPr>
    </p:bg>
    <p:spTree>
      <p:nvGrpSpPr>
        <p:cNvPr id="1" name=""/>
        <p:cNvGrpSpPr/>
        <p:nvPr/>
      </p:nvGrpSpPr>
      <p:grpSpPr>
        <a:xfrm>
          <a:off x="0" y="0"/>
          <a:ext cx="0" cy="0"/>
          <a:chOff x="0" y="0"/>
          <a:chExt cx="0" cy="0"/>
        </a:xfrm>
      </p:grpSpPr>
      <p:pic>
        <p:nvPicPr>
          <p:cNvPr id="2" name="Image 0" descr="https://images.unsplash.com/photo-1752069005653-d6ffdf06a0ae?crop=entropy&amp;cs=tinysrgb&amp;fit=max&amp;fm=jpg&amp;ixid=M3w2Njc0MzZ8MHwxfHNlYXJjaHwxfHxwaGlzaGluZyUyMGN5YmVyc2VjdXJpdHklMjB0cmFpbmluZ3xlbnwwfHx8fDE3NjcwMzIzMjR8MA&amp;ixlib=rb-4.1.0&amp;q=80&amp;w=1080"/>
          <p:cNvPicPr>
            <a:picLocks noChangeAspect="1"/>
          </p:cNvPicPr>
          <p:nvPr/>
        </p:nvPicPr>
        <p:blipFill>
          <a:blip r:embed="rId3"/>
          <a:srcRect/>
          <a:stretch/>
        </p:blipFill>
        <p:spPr>
          <a:xfrm>
            <a:off x="8381790" y="1269968"/>
            <a:ext cx="3301917" cy="4004599"/>
          </a:xfrm>
          <a:prstGeom prst="rect">
            <a:avLst/>
          </a:prstGeom>
        </p:spPr>
      </p:pic>
      <p:sp>
        <p:nvSpPr>
          <p:cNvPr id="3" name="Text 0"/>
          <p:cNvSpPr/>
          <p:nvPr/>
        </p:nvSpPr>
        <p:spPr>
          <a:xfrm>
            <a:off x="761981" y="1269968"/>
            <a:ext cx="7111822" cy="1269968"/>
          </a:xfrm>
          <a:prstGeom prst="rect">
            <a:avLst/>
          </a:prstGeom>
          <a:noFill/>
          <a:ln/>
        </p:spPr>
        <p:txBody>
          <a:bodyPr wrap="square" lIns="0" tIns="0" rIns="0" bIns="0"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Introduction to Advanced Phishing Awareness Training
</a:t>
            </a:r>
            <a:endParaRPr lang="en-US" sz="2900" dirty="0"/>
          </a:p>
        </p:txBody>
      </p:sp>
      <p:sp>
        <p:nvSpPr>
          <p:cNvPr id="4" name="Text 1"/>
          <p:cNvSpPr/>
          <p:nvPr/>
        </p:nvSpPr>
        <p:spPr>
          <a:xfrm>
            <a:off x="761981" y="2793930"/>
            <a:ext cx="7111822" cy="3301917"/>
          </a:xfrm>
          <a:prstGeom prst="rect">
            <a:avLst/>
          </a:prstGeom>
          <a:noFill/>
          <a:ln/>
        </p:spPr>
        <p:txBody>
          <a:bodyPr wrap="square" lIns="0" tIns="0" rIns="0" bIns="0" rtlCol="0" anchor="t"/>
          <a:lstStyle/>
          <a:p>
            <a:pPr marL="0" indent="0" algn="l">
              <a:lnSpc>
                <a:spcPct val="150000"/>
              </a:lnSpc>
              <a:buNone/>
            </a:pPr>
            <a:r>
              <a:rPr lang="en-US" sz="1300" dirty="0">
                <a:solidFill>
                  <a:srgbClr val="E0E0E0"/>
                </a:solidFill>
                <a:latin typeface="Calibri" pitchFamily="34" charset="0"/>
                <a:ea typeface="Calibri" pitchFamily="34" charset="-122"/>
                <a:cs typeface="Calibri" pitchFamily="34" charset="-120"/>
              </a:rPr>
              <a:t>In today's digital landscape, phishing attacks have evolved, targeting even the most vigilant users. This training module will equip IT security analysts with the knowledge to identify sophisticated phishing emails and counterfeit websites. By understanding social engineering tactics and recognizing red flags, analysts can better protect their organizations. Real-world examples and interactive quizzes will enhance engagement and retention, ensuring that participants can apply best practices effectively to mitigate risks associated with phishing threats.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Understanding Phishing Attacks
</a:t>
            </a:r>
            <a:endParaRPr lang="en-US" sz="2900" dirty="0"/>
          </a:p>
        </p:txBody>
      </p:sp>
      <p:sp>
        <p:nvSpPr>
          <p:cNvPr id="3" name="Shape 1"/>
          <p:cNvSpPr/>
          <p:nvPr/>
        </p:nvSpPr>
        <p:spPr>
          <a:xfrm>
            <a:off x="761981" y="1777956"/>
            <a:ext cx="507987" cy="507987"/>
          </a:xfrm>
          <a:prstGeom prst="ellipse">
            <a:avLst/>
          </a:prstGeom>
          <a:solidFill>
            <a:srgbClr val="00FFFF"/>
          </a:solidFill>
          <a:ln/>
        </p:spPr>
      </p:sp>
      <p:sp>
        <p:nvSpPr>
          <p:cNvPr id="4" name="Text 2"/>
          <p:cNvSpPr/>
          <p:nvPr/>
        </p:nvSpPr>
        <p:spPr>
          <a:xfrm>
            <a:off x="761981" y="1854960"/>
            <a:ext cx="507987" cy="507987"/>
          </a:xfrm>
          <a:prstGeom prst="rect">
            <a:avLst/>
          </a:prstGeom>
          <a:noFill/>
          <a:ln/>
        </p:spPr>
        <p:txBody>
          <a:bodyPr wrap="square" lIns="0" tIns="0" rIns="0" bIns="0" rtlCol="0" anchor="t"/>
          <a:lstStyle/>
          <a:p>
            <a:pPr marL="0" indent="0" algn="ctr">
              <a:lnSpc>
                <a:spcPct val="100000"/>
              </a:lnSpc>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1460463" y="1777956"/>
            <a:ext cx="8826279"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Exploitation of Human Psychology
</a:t>
            </a:r>
            <a:endParaRPr lang="en-US" sz="1300" dirty="0"/>
          </a:p>
        </p:txBody>
      </p:sp>
      <p:sp>
        <p:nvSpPr>
          <p:cNvPr id="6" name="Text 4"/>
          <p:cNvSpPr/>
          <p:nvPr/>
        </p:nvSpPr>
        <p:spPr>
          <a:xfrm>
            <a:off x="1460463" y="2184345"/>
            <a:ext cx="8826279" cy="924537"/>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Phishing attacks manipulate human emotions, such as fear and urgency, leading to data breaches. Attackers often craft messages that appear legitimate, increasing the likelihood of user compliance.
</a:t>
            </a:r>
            <a:endParaRPr lang="en-US" sz="1300" dirty="0"/>
          </a:p>
        </p:txBody>
      </p:sp>
      <p:sp>
        <p:nvSpPr>
          <p:cNvPr id="7" name="Shape 5"/>
          <p:cNvSpPr/>
          <p:nvPr/>
        </p:nvSpPr>
        <p:spPr>
          <a:xfrm>
            <a:off x="761979" y="2889880"/>
            <a:ext cx="507987" cy="507987"/>
          </a:xfrm>
          <a:prstGeom prst="ellipse">
            <a:avLst/>
          </a:prstGeom>
          <a:solidFill>
            <a:srgbClr val="8B5CF6"/>
          </a:solidFill>
          <a:ln/>
        </p:spPr>
      </p:sp>
      <p:sp>
        <p:nvSpPr>
          <p:cNvPr id="8" name="Text 6"/>
          <p:cNvSpPr/>
          <p:nvPr/>
        </p:nvSpPr>
        <p:spPr>
          <a:xfrm>
            <a:off x="761981" y="2984425"/>
            <a:ext cx="507987" cy="507987"/>
          </a:xfrm>
          <a:prstGeom prst="rect">
            <a:avLst/>
          </a:prstGeom>
          <a:noFill/>
          <a:ln/>
        </p:spPr>
        <p:txBody>
          <a:bodyPr wrap="square" lIns="0" tIns="0" rIns="0" bIns="0" rtlCol="0" anchor="t"/>
          <a:lstStyle/>
          <a:p>
            <a:pPr marL="0" indent="0" algn="ctr">
              <a:lnSpc>
                <a:spcPct val="100000"/>
              </a:lnSpc>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460463" y="2984425"/>
            <a:ext cx="8826279"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Prevalence of Phishing Attempts
</a:t>
            </a:r>
            <a:endParaRPr lang="en-US" sz="1300" dirty="0"/>
          </a:p>
        </p:txBody>
      </p:sp>
      <p:sp>
        <p:nvSpPr>
          <p:cNvPr id="10" name="Text 8"/>
          <p:cNvSpPr/>
          <p:nvPr/>
        </p:nvSpPr>
        <p:spPr>
          <a:xfrm>
            <a:off x="1460463" y="3390815"/>
            <a:ext cx="8826279" cy="115567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In 2022, 83% of organizations reported experiencing phishing attempts, highlighting the widespread nature of this threat. This statistic underscores the need for robust training and awareness programs.
</a:t>
            </a:r>
            <a:endParaRPr lang="en-US" sz="1300" dirty="0"/>
          </a:p>
        </p:txBody>
      </p:sp>
      <p:sp>
        <p:nvSpPr>
          <p:cNvPr id="11" name="Shape 9"/>
          <p:cNvSpPr/>
          <p:nvPr/>
        </p:nvSpPr>
        <p:spPr>
          <a:xfrm>
            <a:off x="761980" y="4089298"/>
            <a:ext cx="507987" cy="507987"/>
          </a:xfrm>
          <a:prstGeom prst="ellipse">
            <a:avLst/>
          </a:prstGeom>
          <a:solidFill>
            <a:srgbClr val="00FFFF"/>
          </a:solidFill>
          <a:ln/>
        </p:spPr>
      </p:sp>
      <p:sp>
        <p:nvSpPr>
          <p:cNvPr id="12" name="Text 10"/>
          <p:cNvSpPr/>
          <p:nvPr/>
        </p:nvSpPr>
        <p:spPr>
          <a:xfrm>
            <a:off x="761981" y="4190895"/>
            <a:ext cx="507987" cy="507987"/>
          </a:xfrm>
          <a:prstGeom prst="rect">
            <a:avLst/>
          </a:prstGeom>
          <a:noFill/>
          <a:ln/>
        </p:spPr>
        <p:txBody>
          <a:bodyPr wrap="square" lIns="0" tIns="0" rIns="0" bIns="0" rtlCol="0" anchor="t"/>
          <a:lstStyle/>
          <a:p>
            <a:pPr marL="0" indent="0" algn="ctr">
              <a:lnSpc>
                <a:spcPct val="100000"/>
              </a:lnSpc>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p:nvPr/>
        </p:nvSpPr>
        <p:spPr>
          <a:xfrm>
            <a:off x="1460463" y="4190895"/>
            <a:ext cx="8826279"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Consequences of Phishing
</a:t>
            </a:r>
            <a:endParaRPr lang="en-US" sz="1300" dirty="0"/>
          </a:p>
        </p:txBody>
      </p:sp>
      <p:sp>
        <p:nvSpPr>
          <p:cNvPr id="14" name="Text 12"/>
          <p:cNvSpPr/>
          <p:nvPr/>
        </p:nvSpPr>
        <p:spPr>
          <a:xfrm>
            <a:off x="1460463" y="4597285"/>
            <a:ext cx="8826279" cy="115567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Phishing can result in significant financial losses, reputational damage, and regulatory penalties. Organizations must recognize these risks to prioritize effective security measures and employee training.
</a:t>
            </a:r>
            <a:endParaRPr lang="en-US" sz="1300" dirty="0"/>
          </a:p>
        </p:txBody>
      </p:sp>
      <p:sp>
        <p:nvSpPr>
          <p:cNvPr id="15" name="Text 13"/>
          <p:cNvSpPr/>
          <p:nvPr/>
        </p:nvSpPr>
        <p:spPr>
          <a:xfrm>
            <a:off x="761981" y="5397365"/>
            <a:ext cx="507987" cy="507987"/>
          </a:xfrm>
          <a:prstGeom prst="rect">
            <a:avLst/>
          </a:prstGeom>
          <a:noFill/>
          <a:ln/>
        </p:spPr>
        <p:txBody>
          <a:bodyPr wrap="square" lIns="0" tIns="0" rIns="0" bIns="0" rtlCol="0" anchor="t"/>
          <a:lstStyle/>
          <a:p>
            <a:pPr marL="0" indent="0" algn="ctr">
              <a:lnSpc>
                <a:spcPct val="100000"/>
              </a:lnSpc>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4"/>
          <p:cNvSpPr/>
          <p:nvPr/>
        </p:nvSpPr>
        <p:spPr>
          <a:xfrm>
            <a:off x="1460463" y="5397365"/>
            <a:ext cx="8826279"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Evolution of Phishing Tactics
</a:t>
            </a:r>
            <a:endParaRPr lang="en-US" sz="1300" dirty="0"/>
          </a:p>
        </p:txBody>
      </p:sp>
      <p:sp>
        <p:nvSpPr>
          <p:cNvPr id="17" name="Text 15"/>
          <p:cNvSpPr/>
          <p:nvPr/>
        </p:nvSpPr>
        <p:spPr>
          <a:xfrm>
            <a:off x="1460463" y="5803755"/>
            <a:ext cx="8826279" cy="115567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Phishing tactics have evolved, incorporating advanced social engineering techniques. Understanding these changes is essential for developing effective defenses and enhancing organizational resilience against attacks.
</a:t>
            </a:r>
            <a:endParaRPr lang="en-US" sz="1300" dirty="0"/>
          </a:p>
        </p:txBody>
      </p:sp>
      <p:sp>
        <p:nvSpPr>
          <p:cNvPr id="18" name="Shape 5">
            <a:extLst>
              <a:ext uri="{FF2B5EF4-FFF2-40B4-BE49-F238E27FC236}">
                <a16:creationId xmlns:a16="http://schemas.microsoft.com/office/drawing/2014/main" id="{BC99E774-F17D-960D-E391-F851C1C7772E}"/>
              </a:ext>
            </a:extLst>
          </p:cNvPr>
          <p:cNvSpPr/>
          <p:nvPr/>
        </p:nvSpPr>
        <p:spPr>
          <a:xfrm>
            <a:off x="761978" y="5215839"/>
            <a:ext cx="507987" cy="507987"/>
          </a:xfrm>
          <a:prstGeom prst="ellipse">
            <a:avLst/>
          </a:prstGeom>
          <a:solidFill>
            <a:srgbClr val="8B5CF6"/>
          </a:solidFill>
          <a:ln/>
        </p:spPr>
        <p:txBody>
          <a:bodyPr/>
          <a:lstStyle/>
          <a:p>
            <a:r>
              <a:rPr lang="en-IN" b="1" dirty="0">
                <a:solidFill>
                  <a:schemeClr val="bg1"/>
                </a:solidFill>
              </a:rP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Recognizing Phishing Emails
</a:t>
            </a:r>
            <a:endParaRPr lang="en-US" sz="2900" dirty="0"/>
          </a:p>
        </p:txBody>
      </p:sp>
      <p:sp>
        <p:nvSpPr>
          <p:cNvPr id="4" name="Text 1"/>
          <p:cNvSpPr/>
          <p:nvPr/>
        </p:nvSpPr>
        <p:spPr>
          <a:xfrm>
            <a:off x="1587460" y="1696678"/>
            <a:ext cx="9842254" cy="380990"/>
          </a:xfrm>
          <a:prstGeom prst="rect">
            <a:avLst/>
          </a:prstGeom>
          <a:noFill/>
          <a:ln/>
        </p:spPr>
        <p:txBody>
          <a:bodyPr wrap="square" lIns="0" tIns="0" rIns="0" bIns="0" rtlCol="0" anchor="t"/>
          <a:lstStyle/>
          <a:p>
            <a:pPr marL="0" indent="0" algn="l">
              <a:lnSpc>
                <a:spcPct val="120000"/>
              </a:lnSpc>
              <a:buNone/>
            </a:pPr>
            <a:r>
              <a:rPr lang="en-US" sz="1300" b="1" dirty="0">
                <a:solidFill>
                  <a:srgbClr val="7030A0"/>
                </a:solidFill>
                <a:latin typeface="Calibri" pitchFamily="34" charset="0"/>
                <a:ea typeface="Calibri" pitchFamily="34" charset="-122"/>
                <a:cs typeface="Calibri" pitchFamily="34" charset="-120"/>
              </a:rPr>
              <a:t>GENERIC GREETINGS
</a:t>
            </a:r>
            <a:endParaRPr lang="en-US" sz="1300" dirty="0">
              <a:solidFill>
                <a:srgbClr val="7030A0"/>
              </a:solidFill>
            </a:endParaRPr>
          </a:p>
        </p:txBody>
      </p:sp>
      <p:sp>
        <p:nvSpPr>
          <p:cNvPr id="5" name="Text 2"/>
          <p:cNvSpPr/>
          <p:nvPr/>
        </p:nvSpPr>
        <p:spPr>
          <a:xfrm>
            <a:off x="1587460" y="2103067"/>
            <a:ext cx="9842254" cy="1066773"/>
          </a:xfrm>
          <a:prstGeom prst="rect">
            <a:avLst/>
          </a:prstGeom>
          <a:noFill/>
          <a:ln/>
        </p:spPr>
        <p:txBody>
          <a:bodyPr wrap="square" lIns="0" tIns="0" rIns="0" bIns="0" rtlCol="0" anchor="t"/>
          <a:lstStyle/>
          <a:p>
            <a:pPr marL="0" indent="0" algn="l">
              <a:lnSpc>
                <a:spcPct val="150000"/>
              </a:lnSpc>
              <a:buNone/>
            </a:pPr>
            <a:r>
              <a:rPr lang="en-US" sz="1300" dirty="0">
                <a:solidFill>
                  <a:srgbClr val="E0E0E0"/>
                </a:solidFill>
                <a:latin typeface="Calibri" pitchFamily="34" charset="0"/>
                <a:ea typeface="Calibri" pitchFamily="34" charset="-122"/>
                <a:cs typeface="Calibri" pitchFamily="34" charset="-120"/>
              </a:rPr>
              <a:t>Phishing emails often use generic greetings like 'Dear Customer.' Legitimate organizations personalize emails, addressing you by name, which is a key indicator of authenticity.
</a:t>
            </a:r>
            <a:endParaRPr lang="en-US" sz="1300" dirty="0"/>
          </a:p>
        </p:txBody>
      </p:sp>
      <p:pic>
        <p:nvPicPr>
          <p:cNvPr id="6" name="Image 1" descr="preencoded.png"/>
          <p:cNvPicPr>
            <a:picLocks noChangeAspect="1"/>
          </p:cNvPicPr>
          <p:nvPr/>
        </p:nvPicPr>
        <p:blipFill>
          <a:blip r:embed="rId3"/>
          <a:stretch>
            <a:fillRect/>
          </a:stretch>
        </p:blipFill>
        <p:spPr>
          <a:xfrm>
            <a:off x="761981" y="2828218"/>
            <a:ext cx="571486" cy="444489"/>
          </a:xfrm>
          <a:prstGeom prst="rect">
            <a:avLst/>
          </a:prstGeom>
        </p:spPr>
      </p:pic>
      <p:sp>
        <p:nvSpPr>
          <p:cNvPr id="7" name="Text 3"/>
          <p:cNvSpPr/>
          <p:nvPr/>
        </p:nvSpPr>
        <p:spPr>
          <a:xfrm>
            <a:off x="1587460" y="2859968"/>
            <a:ext cx="9842254" cy="380990"/>
          </a:xfrm>
          <a:prstGeom prst="rect">
            <a:avLst/>
          </a:prstGeom>
          <a:noFill/>
          <a:ln/>
        </p:spPr>
        <p:txBody>
          <a:bodyPr wrap="square" lIns="0" tIns="0" rIns="0" bIns="0" rtlCol="0" anchor="t"/>
          <a:lstStyle/>
          <a:p>
            <a:pPr marL="0" indent="0" algn="l">
              <a:lnSpc>
                <a:spcPct val="120000"/>
              </a:lnSpc>
              <a:buNone/>
            </a:pPr>
            <a:r>
              <a:rPr lang="en-US" sz="1300" b="1" dirty="0">
                <a:solidFill>
                  <a:srgbClr val="00FFFF"/>
                </a:solidFill>
                <a:latin typeface="Calibri" pitchFamily="34" charset="0"/>
                <a:ea typeface="Calibri" pitchFamily="34" charset="-122"/>
                <a:cs typeface="Calibri" pitchFamily="34" charset="-120"/>
              </a:rPr>
              <a:t>SPELLING ERRORS
</a:t>
            </a:r>
            <a:endParaRPr lang="en-US" sz="1300" dirty="0"/>
          </a:p>
        </p:txBody>
      </p:sp>
      <p:sp>
        <p:nvSpPr>
          <p:cNvPr id="8" name="Text 4"/>
          <p:cNvSpPr/>
          <p:nvPr/>
        </p:nvSpPr>
        <p:spPr>
          <a:xfrm>
            <a:off x="1587460" y="3266358"/>
            <a:ext cx="9842254" cy="1066773"/>
          </a:xfrm>
          <a:prstGeom prst="rect">
            <a:avLst/>
          </a:prstGeom>
          <a:noFill/>
          <a:ln/>
        </p:spPr>
        <p:txBody>
          <a:bodyPr wrap="square" lIns="0" tIns="0" rIns="0" bIns="0" rtlCol="0" anchor="t"/>
          <a:lstStyle/>
          <a:p>
            <a:pPr marL="0" indent="0" algn="l">
              <a:lnSpc>
                <a:spcPct val="150000"/>
              </a:lnSpc>
              <a:buNone/>
            </a:pPr>
            <a:r>
              <a:rPr lang="en-US" sz="1300" dirty="0">
                <a:solidFill>
                  <a:srgbClr val="E0E0E0"/>
                </a:solidFill>
                <a:latin typeface="Calibri" pitchFamily="34" charset="0"/>
                <a:ea typeface="Calibri" pitchFamily="34" charset="-122"/>
                <a:cs typeface="Calibri" pitchFamily="34" charset="-120"/>
              </a:rPr>
              <a:t>Many phishing emails contain spelling and grammatical errors. A 2022 study found that 70% of phishing attempts had noticeable mistakes, signaling potential fraud.
</a:t>
            </a:r>
            <a:endParaRPr lang="en-US" sz="1300" dirty="0"/>
          </a:p>
        </p:txBody>
      </p:sp>
      <p:pic>
        <p:nvPicPr>
          <p:cNvPr id="9" name="Image 2" descr="preencoded.png"/>
          <p:cNvPicPr>
            <a:picLocks noChangeAspect="1"/>
          </p:cNvPicPr>
          <p:nvPr/>
        </p:nvPicPr>
        <p:blipFill>
          <a:blip r:embed="rId4"/>
          <a:stretch>
            <a:fillRect/>
          </a:stretch>
        </p:blipFill>
        <p:spPr>
          <a:xfrm>
            <a:off x="761981" y="3959760"/>
            <a:ext cx="571486" cy="444489"/>
          </a:xfrm>
          <a:prstGeom prst="rect">
            <a:avLst/>
          </a:prstGeom>
        </p:spPr>
      </p:pic>
      <p:sp>
        <p:nvSpPr>
          <p:cNvPr id="10" name="Text 5"/>
          <p:cNvSpPr/>
          <p:nvPr/>
        </p:nvSpPr>
        <p:spPr>
          <a:xfrm>
            <a:off x="1587460" y="4023259"/>
            <a:ext cx="9842254" cy="380990"/>
          </a:xfrm>
          <a:prstGeom prst="rect">
            <a:avLst/>
          </a:prstGeom>
          <a:noFill/>
          <a:ln/>
        </p:spPr>
        <p:txBody>
          <a:bodyPr wrap="square" lIns="0" tIns="0" rIns="0" bIns="0" rtlCol="0" anchor="t"/>
          <a:lstStyle/>
          <a:p>
            <a:pPr marL="0" indent="0" algn="l">
              <a:lnSpc>
                <a:spcPct val="120000"/>
              </a:lnSpc>
              <a:buNone/>
            </a:pPr>
            <a:r>
              <a:rPr lang="en-US" sz="1300" b="1" dirty="0">
                <a:solidFill>
                  <a:srgbClr val="7030A0"/>
                </a:solidFill>
                <a:latin typeface="Calibri" pitchFamily="34" charset="0"/>
                <a:ea typeface="Calibri" pitchFamily="34" charset="-122"/>
                <a:cs typeface="Calibri" pitchFamily="34" charset="-120"/>
              </a:rPr>
              <a:t>HOVERING OVER LINKS
</a:t>
            </a:r>
            <a:endParaRPr lang="en-US" sz="1300" dirty="0">
              <a:solidFill>
                <a:srgbClr val="7030A0"/>
              </a:solidFill>
            </a:endParaRPr>
          </a:p>
        </p:txBody>
      </p:sp>
      <p:sp>
        <p:nvSpPr>
          <p:cNvPr id="11" name="Text 6"/>
          <p:cNvSpPr/>
          <p:nvPr/>
        </p:nvSpPr>
        <p:spPr>
          <a:xfrm>
            <a:off x="1587460" y="4429649"/>
            <a:ext cx="9842254" cy="1066773"/>
          </a:xfrm>
          <a:prstGeom prst="rect">
            <a:avLst/>
          </a:prstGeom>
          <a:noFill/>
          <a:ln/>
        </p:spPr>
        <p:txBody>
          <a:bodyPr wrap="square" lIns="0" tIns="0" rIns="0" bIns="0" rtlCol="0" anchor="t"/>
          <a:lstStyle/>
          <a:p>
            <a:pPr marL="0" indent="0" algn="l">
              <a:lnSpc>
                <a:spcPct val="150000"/>
              </a:lnSpc>
              <a:buNone/>
            </a:pPr>
            <a:r>
              <a:rPr lang="en-US" sz="1300" dirty="0">
                <a:solidFill>
                  <a:srgbClr val="E0E0E0"/>
                </a:solidFill>
                <a:latin typeface="Calibri" pitchFamily="34" charset="0"/>
                <a:ea typeface="Calibri" pitchFamily="34" charset="-122"/>
                <a:cs typeface="Calibri" pitchFamily="34" charset="-120"/>
              </a:rPr>
              <a:t>Always hover over links to reveal the actual URL. Phishing links often disguise their true destination, leading to malicious sites that can compromise your data.
</a:t>
            </a:r>
            <a:endParaRPr lang="en-US" sz="1300" dirty="0"/>
          </a:p>
        </p:txBody>
      </p:sp>
      <p:pic>
        <p:nvPicPr>
          <p:cNvPr id="12" name="Image 3" descr="preencoded.png"/>
          <p:cNvPicPr>
            <a:picLocks noChangeAspect="1"/>
          </p:cNvPicPr>
          <p:nvPr/>
        </p:nvPicPr>
        <p:blipFill>
          <a:blip r:embed="rId3"/>
          <a:stretch>
            <a:fillRect/>
          </a:stretch>
        </p:blipFill>
        <p:spPr>
          <a:xfrm>
            <a:off x="761981" y="5125839"/>
            <a:ext cx="571486" cy="444489"/>
          </a:xfrm>
          <a:prstGeom prst="rect">
            <a:avLst/>
          </a:prstGeom>
        </p:spPr>
      </p:pic>
      <p:sp>
        <p:nvSpPr>
          <p:cNvPr id="13" name="Text 7"/>
          <p:cNvSpPr/>
          <p:nvPr/>
        </p:nvSpPr>
        <p:spPr>
          <a:xfrm>
            <a:off x="1587460" y="5186550"/>
            <a:ext cx="9842254" cy="380990"/>
          </a:xfrm>
          <a:prstGeom prst="rect">
            <a:avLst/>
          </a:prstGeom>
          <a:noFill/>
          <a:ln/>
        </p:spPr>
        <p:txBody>
          <a:bodyPr wrap="square" lIns="0" tIns="0" rIns="0" bIns="0" rtlCol="0" anchor="t"/>
          <a:lstStyle/>
          <a:p>
            <a:pPr marL="0" indent="0" algn="l">
              <a:lnSpc>
                <a:spcPct val="120000"/>
              </a:lnSpc>
              <a:buNone/>
            </a:pPr>
            <a:r>
              <a:rPr lang="en-US" sz="1300" b="1" dirty="0">
                <a:solidFill>
                  <a:srgbClr val="00FFFF"/>
                </a:solidFill>
                <a:latin typeface="Calibri" pitchFamily="34" charset="0"/>
                <a:ea typeface="Calibri" pitchFamily="34" charset="-122"/>
                <a:cs typeface="Calibri" pitchFamily="34" charset="-120"/>
              </a:rPr>
              <a:t>URGENT LANGUAGE
</a:t>
            </a:r>
            <a:endParaRPr lang="en-US" sz="1300" dirty="0"/>
          </a:p>
        </p:txBody>
      </p:sp>
      <p:sp>
        <p:nvSpPr>
          <p:cNvPr id="14" name="Text 8"/>
          <p:cNvSpPr/>
          <p:nvPr/>
        </p:nvSpPr>
        <p:spPr>
          <a:xfrm>
            <a:off x="1587460" y="5592940"/>
            <a:ext cx="9842254" cy="1066773"/>
          </a:xfrm>
          <a:prstGeom prst="rect">
            <a:avLst/>
          </a:prstGeom>
          <a:noFill/>
          <a:ln/>
        </p:spPr>
        <p:txBody>
          <a:bodyPr wrap="square" lIns="0" tIns="0" rIns="0" bIns="0" rtlCol="0" anchor="t"/>
          <a:lstStyle/>
          <a:p>
            <a:pPr marL="0" indent="0" algn="l">
              <a:lnSpc>
                <a:spcPct val="150000"/>
              </a:lnSpc>
              <a:buNone/>
            </a:pPr>
            <a:r>
              <a:rPr lang="en-US" sz="1300" dirty="0">
                <a:solidFill>
                  <a:srgbClr val="E0E0E0"/>
                </a:solidFill>
                <a:latin typeface="Calibri" pitchFamily="34" charset="0"/>
                <a:ea typeface="Calibri" pitchFamily="34" charset="-122"/>
                <a:cs typeface="Calibri" pitchFamily="34" charset="-120"/>
              </a:rPr>
              <a:t>Phishing attempts frequently use urgent language or threats to provoke hasty actions. Be cautious of emails that pressure you to act quickly, as they may be fraudulent.
</a:t>
            </a:r>
            <a:endParaRPr lang="en-US" sz="1300" dirty="0"/>
          </a:p>
        </p:txBody>
      </p:sp>
      <p:pic>
        <p:nvPicPr>
          <p:cNvPr id="15" name="Image 2" descr="preencoded.png">
            <a:extLst>
              <a:ext uri="{FF2B5EF4-FFF2-40B4-BE49-F238E27FC236}">
                <a16:creationId xmlns:a16="http://schemas.microsoft.com/office/drawing/2014/main" id="{4CC41041-D40F-5A60-2953-EF344F834D03}"/>
              </a:ext>
            </a:extLst>
          </p:cNvPr>
          <p:cNvPicPr>
            <a:picLocks noChangeAspect="1"/>
          </p:cNvPicPr>
          <p:nvPr/>
        </p:nvPicPr>
        <p:blipFill>
          <a:blip r:embed="rId4"/>
          <a:stretch>
            <a:fillRect/>
          </a:stretch>
        </p:blipFill>
        <p:spPr>
          <a:xfrm>
            <a:off x="761981" y="1633179"/>
            <a:ext cx="571486" cy="4444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Identifying Fake Websites
</a:t>
            </a:r>
            <a:endParaRPr lang="en-US" sz="2900" dirty="0"/>
          </a:p>
        </p:txBody>
      </p:sp>
      <p:sp>
        <p:nvSpPr>
          <p:cNvPr id="3" name="Shape 1"/>
          <p:cNvSpPr/>
          <p:nvPr/>
        </p:nvSpPr>
        <p:spPr>
          <a:xfrm>
            <a:off x="1587460" y="1523962"/>
            <a:ext cx="38099" cy="3619538"/>
          </a:xfrm>
          <a:prstGeom prst="rect">
            <a:avLst/>
          </a:prstGeom>
          <a:solidFill>
            <a:srgbClr val="8B5CF6"/>
          </a:solidFill>
          <a:ln/>
        </p:spPr>
      </p:sp>
      <p:pic>
        <p:nvPicPr>
          <p:cNvPr id="4" name="Image 0" descr="preencoded.png"/>
          <p:cNvPicPr>
            <a:picLocks noChangeAspect="1"/>
          </p:cNvPicPr>
          <p:nvPr/>
        </p:nvPicPr>
        <p:blipFill>
          <a:blip r:embed="rId3"/>
          <a:srcRect/>
          <a:stretch/>
        </p:blipFill>
        <p:spPr>
          <a:xfrm>
            <a:off x="1405791" y="1244568"/>
            <a:ext cx="406390" cy="406390"/>
          </a:xfrm>
          <a:prstGeom prst="rect">
            <a:avLst/>
          </a:prstGeom>
        </p:spPr>
      </p:pic>
      <p:sp>
        <p:nvSpPr>
          <p:cNvPr id="5" name="Text 2"/>
          <p:cNvSpPr/>
          <p:nvPr/>
        </p:nvSpPr>
        <p:spPr>
          <a:xfrm>
            <a:off x="1396965" y="1320767"/>
            <a:ext cx="406390" cy="406390"/>
          </a:xfrm>
          <a:prstGeom prst="rect">
            <a:avLst/>
          </a:prstGeom>
          <a:noFill/>
          <a:ln/>
        </p:spPr>
        <p:txBody>
          <a:bodyPr wrap="square" lIns="0" tIns="0" rIns="0" bIns="0" rtlCol="0" anchor="t"/>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3"/>
          <p:cNvSpPr/>
          <p:nvPr/>
        </p:nvSpPr>
        <p:spPr>
          <a:xfrm>
            <a:off x="2108147" y="1269968"/>
            <a:ext cx="8051599" cy="609585"/>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Verify the URL
</a:t>
            </a:r>
            <a:endParaRPr lang="en-US" sz="1300" dirty="0"/>
          </a:p>
        </p:txBody>
      </p:sp>
      <p:sp>
        <p:nvSpPr>
          <p:cNvPr id="7" name="Text 4"/>
          <p:cNvSpPr/>
          <p:nvPr/>
        </p:nvSpPr>
        <p:spPr>
          <a:xfrm>
            <a:off x="2108147" y="1625559"/>
            <a:ext cx="8051599" cy="115567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Phishing sites often use misspelled or similar domain names. For instance, 'paypa1.com' instead of 'paypal.com' can easily deceive users. Always double-check the URL before entering sensitive information.
</a:t>
            </a:r>
            <a:endParaRPr lang="en-US" sz="1300" dirty="0"/>
          </a:p>
        </p:txBody>
      </p:sp>
      <p:pic>
        <p:nvPicPr>
          <p:cNvPr id="8" name="Image 1" descr="preencoded.png"/>
          <p:cNvPicPr>
            <a:picLocks noChangeAspect="1"/>
          </p:cNvPicPr>
          <p:nvPr/>
        </p:nvPicPr>
        <p:blipFill>
          <a:blip r:embed="rId3"/>
          <a:srcRect/>
          <a:stretch/>
        </p:blipFill>
        <p:spPr>
          <a:xfrm>
            <a:off x="1405791" y="2489137"/>
            <a:ext cx="406390" cy="406390"/>
          </a:xfrm>
          <a:prstGeom prst="rect">
            <a:avLst/>
          </a:prstGeom>
        </p:spPr>
      </p:pic>
      <p:sp>
        <p:nvSpPr>
          <p:cNvPr id="9" name="Text 5"/>
          <p:cNvSpPr/>
          <p:nvPr/>
        </p:nvSpPr>
        <p:spPr>
          <a:xfrm>
            <a:off x="1396965" y="2590735"/>
            <a:ext cx="406390" cy="406390"/>
          </a:xfrm>
          <a:prstGeom prst="rect">
            <a:avLst/>
          </a:prstGeom>
          <a:noFill/>
          <a:ln/>
        </p:spPr>
        <p:txBody>
          <a:bodyPr wrap="square" lIns="0" tIns="0" rIns="0" bIns="0" rtlCol="0" anchor="t"/>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6"/>
          <p:cNvSpPr/>
          <p:nvPr/>
        </p:nvSpPr>
        <p:spPr>
          <a:xfrm>
            <a:off x="2108147" y="2539937"/>
            <a:ext cx="8051599" cy="609585"/>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Check for HTTPS
</a:t>
            </a:r>
            <a:endParaRPr lang="en-US" sz="1300" dirty="0"/>
          </a:p>
        </p:txBody>
      </p:sp>
      <p:sp>
        <p:nvSpPr>
          <p:cNvPr id="11" name="Text 7"/>
          <p:cNvSpPr/>
          <p:nvPr/>
        </p:nvSpPr>
        <p:spPr>
          <a:xfrm>
            <a:off x="2108147" y="2895528"/>
            <a:ext cx="8051599" cy="1015975"/>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Look for HTTPS and a padlock icon in the address bar. A lack of these indicators may suggest a fraudulent site. In 2022, 80% of phishing sites lacked proper SSL certificates.
</a:t>
            </a:r>
            <a:endParaRPr lang="en-US" sz="1300" dirty="0"/>
          </a:p>
        </p:txBody>
      </p:sp>
      <p:pic>
        <p:nvPicPr>
          <p:cNvPr id="12" name="Image 2" descr="preencoded.png"/>
          <p:cNvPicPr>
            <a:picLocks noChangeAspect="1"/>
          </p:cNvPicPr>
          <p:nvPr/>
        </p:nvPicPr>
        <p:blipFill>
          <a:blip r:embed="rId3"/>
          <a:srcRect/>
          <a:stretch/>
        </p:blipFill>
        <p:spPr>
          <a:xfrm>
            <a:off x="1396965" y="3752296"/>
            <a:ext cx="406390" cy="406390"/>
          </a:xfrm>
          <a:prstGeom prst="rect">
            <a:avLst/>
          </a:prstGeom>
        </p:spPr>
      </p:pic>
      <p:sp>
        <p:nvSpPr>
          <p:cNvPr id="13" name="Text 8"/>
          <p:cNvSpPr/>
          <p:nvPr/>
        </p:nvSpPr>
        <p:spPr>
          <a:xfrm>
            <a:off x="1396965" y="3860703"/>
            <a:ext cx="406390" cy="406390"/>
          </a:xfrm>
          <a:prstGeom prst="rect">
            <a:avLst/>
          </a:prstGeom>
          <a:noFill/>
          <a:ln/>
        </p:spPr>
        <p:txBody>
          <a:bodyPr wrap="square" lIns="0" tIns="0" rIns="0" bIns="0" rtlCol="0" anchor="t"/>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9"/>
          <p:cNvSpPr/>
          <p:nvPr/>
        </p:nvSpPr>
        <p:spPr>
          <a:xfrm>
            <a:off x="2108147" y="3809905"/>
            <a:ext cx="8051599" cy="609585"/>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Assess Branding Consistency
</a:t>
            </a:r>
            <a:endParaRPr lang="en-US" sz="1300" dirty="0"/>
          </a:p>
        </p:txBody>
      </p:sp>
      <p:sp>
        <p:nvSpPr>
          <p:cNvPr id="15" name="Text 10"/>
          <p:cNvSpPr/>
          <p:nvPr/>
        </p:nvSpPr>
        <p:spPr>
          <a:xfrm>
            <a:off x="2108147" y="4165496"/>
            <a:ext cx="8051599" cy="1015975"/>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Check for inconsistencies in branding and design. Legitimate websites maintain a consistent aesthetic. For example, mismatched logos or color schemes can indicate a scam.
</a:t>
            </a:r>
            <a:endParaRPr lang="en-US" sz="1300" dirty="0"/>
          </a:p>
        </p:txBody>
      </p:sp>
      <p:pic>
        <p:nvPicPr>
          <p:cNvPr id="16" name="Image 3" descr="preencoded.png"/>
          <p:cNvPicPr>
            <a:picLocks noChangeAspect="1"/>
          </p:cNvPicPr>
          <p:nvPr/>
        </p:nvPicPr>
        <p:blipFill>
          <a:blip r:embed="rId4"/>
          <a:srcRect/>
          <a:stretch/>
        </p:blipFill>
        <p:spPr>
          <a:xfrm>
            <a:off x="1396965" y="5130672"/>
            <a:ext cx="406390" cy="12828"/>
          </a:xfrm>
          <a:prstGeom prst="rect">
            <a:avLst/>
          </a:prstGeom>
        </p:spPr>
      </p:pic>
      <p:sp>
        <p:nvSpPr>
          <p:cNvPr id="18" name="Text 12"/>
          <p:cNvSpPr/>
          <p:nvPr/>
        </p:nvSpPr>
        <p:spPr>
          <a:xfrm>
            <a:off x="2108147" y="5079873"/>
            <a:ext cx="8051599" cy="609585"/>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Use WHOIS Tools
</a:t>
            </a:r>
            <a:endParaRPr lang="en-US" sz="1300" dirty="0"/>
          </a:p>
        </p:txBody>
      </p:sp>
      <p:sp>
        <p:nvSpPr>
          <p:cNvPr id="19" name="Text 13"/>
          <p:cNvSpPr/>
          <p:nvPr/>
        </p:nvSpPr>
        <p:spPr>
          <a:xfrm>
            <a:off x="2108147" y="5435464"/>
            <a:ext cx="8051599" cy="1015975"/>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Utilize WHOIS to verify domain registration details. Many phishing domains are registered anonymously or for short durations, which can signal potential fraud.
</a:t>
            </a:r>
            <a:endParaRPr lang="en-US" sz="1300" dirty="0"/>
          </a:p>
        </p:txBody>
      </p:sp>
      <p:pic>
        <p:nvPicPr>
          <p:cNvPr id="20" name="Image 2" descr="preencoded.png">
            <a:extLst>
              <a:ext uri="{FF2B5EF4-FFF2-40B4-BE49-F238E27FC236}">
                <a16:creationId xmlns:a16="http://schemas.microsoft.com/office/drawing/2014/main" id="{69F27D18-B6A8-9588-C23C-67008D056BAB}"/>
              </a:ext>
            </a:extLst>
          </p:cNvPr>
          <p:cNvPicPr>
            <a:picLocks noChangeAspect="1"/>
          </p:cNvPicPr>
          <p:nvPr/>
        </p:nvPicPr>
        <p:blipFill>
          <a:blip r:embed="rId3"/>
          <a:srcRect/>
          <a:stretch/>
        </p:blipFill>
        <p:spPr>
          <a:xfrm>
            <a:off x="1422318" y="5029074"/>
            <a:ext cx="406390" cy="406390"/>
          </a:xfrm>
          <a:prstGeom prst="rect">
            <a:avLst/>
          </a:prstGeom>
        </p:spPr>
      </p:pic>
      <p:sp>
        <p:nvSpPr>
          <p:cNvPr id="22" name="TextBox 21">
            <a:extLst>
              <a:ext uri="{FF2B5EF4-FFF2-40B4-BE49-F238E27FC236}">
                <a16:creationId xmlns:a16="http://schemas.microsoft.com/office/drawing/2014/main" id="{BB8FDFAA-0E53-8A18-E804-C5611A904844}"/>
              </a:ext>
            </a:extLst>
          </p:cNvPr>
          <p:cNvSpPr txBox="1"/>
          <p:nvPr/>
        </p:nvSpPr>
        <p:spPr>
          <a:xfrm>
            <a:off x="1467003" y="5076888"/>
            <a:ext cx="317020" cy="276999"/>
          </a:xfrm>
          <a:prstGeom prst="rect">
            <a:avLst/>
          </a:prstGeom>
          <a:noFill/>
        </p:spPr>
        <p:txBody>
          <a:bodyPr wrap="square">
            <a:spAutoFit/>
          </a:bodyP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Social Engineering Tactics
</a:t>
            </a:r>
            <a:endParaRPr lang="en-US" sz="2900" dirty="0"/>
          </a:p>
        </p:txBody>
      </p:sp>
      <p:sp>
        <p:nvSpPr>
          <p:cNvPr id="3" name="Shape 1"/>
          <p:cNvSpPr/>
          <p:nvPr/>
        </p:nvSpPr>
        <p:spPr>
          <a:xfrm>
            <a:off x="761981" y="1633179"/>
            <a:ext cx="3276518" cy="3510321"/>
          </a:xfrm>
          <a:prstGeom prst="rect">
            <a:avLst/>
          </a:prstGeom>
          <a:noFill/>
          <a:ln/>
        </p:spPr>
      </p:sp>
      <p:sp>
        <p:nvSpPr>
          <p:cNvPr id="4" name="Text 2"/>
          <p:cNvSpPr/>
          <p:nvPr/>
        </p:nvSpPr>
        <p:spPr>
          <a:xfrm>
            <a:off x="558786" y="2376619"/>
            <a:ext cx="406389" cy="444489"/>
          </a:xfrm>
          <a:prstGeom prst="rect">
            <a:avLst/>
          </a:prstGeom>
          <a:noFill/>
          <a:ln/>
        </p:spPr>
        <p:txBody>
          <a:bodyPr wrap="square" lIns="0" tIns="0" rIns="0" bIns="0" rtlCol="0" anchor="t"/>
          <a:lstStyle/>
          <a:p>
            <a:pPr marL="0" indent="0" algn="r">
              <a:lnSpc>
                <a:spcPct val="100000"/>
              </a:lnSpc>
              <a:buNone/>
            </a:pPr>
            <a:r>
              <a:rPr lang="en-US" sz="2500" dirty="0">
                <a:solidFill>
                  <a:srgbClr val="00FFFF"/>
                </a:solidFill>
                <a:latin typeface="Calibri" pitchFamily="34" charset="0"/>
                <a:ea typeface="Calibri" pitchFamily="34" charset="-122"/>
                <a:cs typeface="Calibri" pitchFamily="34" charset="-120"/>
              </a:rPr>
              <a:t>1
</a:t>
            </a:r>
            <a:endParaRPr lang="en-US" sz="2500" dirty="0"/>
          </a:p>
        </p:txBody>
      </p:sp>
      <p:sp>
        <p:nvSpPr>
          <p:cNvPr id="5" name="Text 3"/>
          <p:cNvSpPr/>
          <p:nvPr/>
        </p:nvSpPr>
        <p:spPr>
          <a:xfrm>
            <a:off x="1066773" y="2458659"/>
            <a:ext cx="2666933" cy="1015975"/>
          </a:xfrm>
          <a:prstGeom prst="rect">
            <a:avLst/>
          </a:prstGeom>
          <a:noFill/>
          <a:ln/>
        </p:spPr>
        <p:txBody>
          <a:bodyPr wrap="square" lIns="0" tIns="0" rIns="0" bIns="0" rtlCol="0" anchor="t"/>
          <a:lstStyle/>
          <a:p>
            <a:pPr marL="0" indent="0" algn="l">
              <a:lnSpc>
                <a:spcPct val="125000"/>
              </a:lnSpc>
              <a:buNone/>
            </a:pPr>
            <a:r>
              <a:rPr lang="en-US" sz="1300" b="1" dirty="0">
                <a:solidFill>
                  <a:srgbClr val="FFD700"/>
                </a:solidFill>
                <a:latin typeface="Calibri" pitchFamily="34" charset="0"/>
                <a:ea typeface="Calibri" pitchFamily="34" charset="-122"/>
                <a:cs typeface="Calibri" pitchFamily="34" charset="-120"/>
              </a:rPr>
              <a:t>Pretexting Techniques
</a:t>
            </a:r>
            <a:endParaRPr lang="en-US" sz="1300" dirty="0"/>
          </a:p>
        </p:txBody>
      </p:sp>
      <p:sp>
        <p:nvSpPr>
          <p:cNvPr id="6" name="Text 4"/>
          <p:cNvSpPr/>
          <p:nvPr/>
        </p:nvSpPr>
        <p:spPr>
          <a:xfrm>
            <a:off x="1066773" y="3411135"/>
            <a:ext cx="2666933" cy="2245304"/>
          </a:xfrm>
          <a:prstGeom prst="rect">
            <a:avLst/>
          </a:prstGeom>
          <a:noFill/>
          <a:ln/>
        </p:spPr>
        <p:txBody>
          <a:bodyPr wrap="square" lIns="0" tIns="0" rIns="0" bIns="0" rtlCol="0" anchor="t"/>
          <a:lstStyle/>
          <a:p>
            <a:pPr marL="0" indent="0" algn="l">
              <a:lnSpc>
                <a:spcPct val="140000"/>
              </a:lnSpc>
              <a:buNone/>
            </a:pPr>
            <a:r>
              <a:rPr lang="en-US" sz="1300" dirty="0">
                <a:solidFill>
                  <a:srgbClr val="E0E0E0"/>
                </a:solidFill>
                <a:latin typeface="Calibri" pitchFamily="34" charset="0"/>
                <a:ea typeface="Calibri" pitchFamily="34" charset="-122"/>
                <a:cs typeface="Calibri" pitchFamily="34" charset="-120"/>
              </a:rPr>
              <a:t>Pretexting involves creating a believable scenario to manipulate individuals into divulging confidential information, often leveraging personal data to enhance credibility and trust.
</a:t>
            </a:r>
            <a:endParaRPr lang="en-US" sz="1300" dirty="0"/>
          </a:p>
        </p:txBody>
      </p:sp>
      <p:sp>
        <p:nvSpPr>
          <p:cNvPr id="7" name="Shape 5"/>
          <p:cNvSpPr/>
          <p:nvPr/>
        </p:nvSpPr>
        <p:spPr>
          <a:xfrm>
            <a:off x="4457589" y="1633179"/>
            <a:ext cx="3276518" cy="3510321"/>
          </a:xfrm>
          <a:prstGeom prst="rect">
            <a:avLst/>
          </a:prstGeom>
          <a:noFill/>
          <a:ln/>
        </p:spPr>
      </p:sp>
      <p:sp>
        <p:nvSpPr>
          <p:cNvPr id="8" name="Text 6"/>
          <p:cNvSpPr/>
          <p:nvPr/>
        </p:nvSpPr>
        <p:spPr>
          <a:xfrm>
            <a:off x="4038498" y="2376618"/>
            <a:ext cx="609585" cy="444489"/>
          </a:xfrm>
          <a:prstGeom prst="rect">
            <a:avLst/>
          </a:prstGeom>
          <a:noFill/>
          <a:ln/>
        </p:spPr>
        <p:txBody>
          <a:bodyPr wrap="square" lIns="0" tIns="0" rIns="0" bIns="0" rtlCol="0" anchor="t"/>
          <a:lstStyle/>
          <a:p>
            <a:pPr marL="0" indent="0" algn="r">
              <a:lnSpc>
                <a:spcPct val="100000"/>
              </a:lnSpc>
              <a:buNone/>
            </a:pPr>
            <a:r>
              <a:rPr lang="en-US" sz="2500" dirty="0">
                <a:solidFill>
                  <a:srgbClr val="00FFFF"/>
                </a:solidFill>
                <a:latin typeface="Calibri" pitchFamily="34" charset="0"/>
                <a:ea typeface="Calibri" pitchFamily="34" charset="-122"/>
                <a:cs typeface="Calibri" pitchFamily="34" charset="-120"/>
              </a:rPr>
              <a:t>2
</a:t>
            </a:r>
            <a:endParaRPr lang="en-US" sz="2500" dirty="0"/>
          </a:p>
        </p:txBody>
      </p:sp>
      <p:sp>
        <p:nvSpPr>
          <p:cNvPr id="9" name="Text 7"/>
          <p:cNvSpPr/>
          <p:nvPr/>
        </p:nvSpPr>
        <p:spPr>
          <a:xfrm>
            <a:off x="4762381" y="2458659"/>
            <a:ext cx="2666933" cy="1015975"/>
          </a:xfrm>
          <a:prstGeom prst="rect">
            <a:avLst/>
          </a:prstGeom>
          <a:noFill/>
          <a:ln/>
        </p:spPr>
        <p:txBody>
          <a:bodyPr wrap="square" lIns="0" tIns="0" rIns="0" bIns="0" rtlCol="0" anchor="t"/>
          <a:lstStyle/>
          <a:p>
            <a:pPr marL="0" indent="0" algn="l">
              <a:lnSpc>
                <a:spcPct val="125000"/>
              </a:lnSpc>
              <a:buNone/>
            </a:pPr>
            <a:r>
              <a:rPr lang="en-US" sz="1300" b="1" dirty="0">
                <a:solidFill>
                  <a:srgbClr val="FFD700"/>
                </a:solidFill>
                <a:latin typeface="Calibri" pitchFamily="34" charset="0"/>
                <a:ea typeface="Calibri" pitchFamily="34" charset="-122"/>
                <a:cs typeface="Calibri" pitchFamily="34" charset="-120"/>
              </a:rPr>
              <a:t>Baiting Strategies
</a:t>
            </a:r>
            <a:endParaRPr lang="en-US" sz="1300" dirty="0"/>
          </a:p>
        </p:txBody>
      </p:sp>
      <p:sp>
        <p:nvSpPr>
          <p:cNvPr id="10" name="Text 8"/>
          <p:cNvSpPr/>
          <p:nvPr/>
        </p:nvSpPr>
        <p:spPr>
          <a:xfrm>
            <a:off x="4762381" y="3411135"/>
            <a:ext cx="2666933" cy="2245304"/>
          </a:xfrm>
          <a:prstGeom prst="rect">
            <a:avLst/>
          </a:prstGeom>
          <a:noFill/>
          <a:ln/>
        </p:spPr>
        <p:txBody>
          <a:bodyPr wrap="square" lIns="0" tIns="0" rIns="0" bIns="0" rtlCol="0" anchor="t"/>
          <a:lstStyle/>
          <a:p>
            <a:pPr marL="0" indent="0" algn="l">
              <a:lnSpc>
                <a:spcPct val="140000"/>
              </a:lnSpc>
              <a:buNone/>
            </a:pPr>
            <a:r>
              <a:rPr lang="en-US" sz="1300" dirty="0">
                <a:solidFill>
                  <a:srgbClr val="E0E0E0"/>
                </a:solidFill>
                <a:latin typeface="Calibri" pitchFamily="34" charset="0"/>
                <a:ea typeface="Calibri" pitchFamily="34" charset="-122"/>
                <a:cs typeface="Calibri" pitchFamily="34" charset="-120"/>
              </a:rPr>
              <a:t>Baiting entices victims with promises of free items or services, leading them to malicious sites or downloads that compromise sensitive data, exemplified by fake software offers.
</a:t>
            </a:r>
            <a:endParaRPr lang="en-US" sz="1300" dirty="0"/>
          </a:p>
        </p:txBody>
      </p:sp>
      <p:sp>
        <p:nvSpPr>
          <p:cNvPr id="11" name="Shape 9"/>
          <p:cNvSpPr/>
          <p:nvPr/>
        </p:nvSpPr>
        <p:spPr>
          <a:xfrm>
            <a:off x="8153196" y="1633179"/>
            <a:ext cx="990804" cy="3510321"/>
          </a:xfrm>
          <a:prstGeom prst="rect">
            <a:avLst/>
          </a:prstGeom>
          <a:noFill/>
          <a:ln/>
        </p:spPr>
      </p:sp>
      <p:sp>
        <p:nvSpPr>
          <p:cNvPr id="12" name="Text 10"/>
          <p:cNvSpPr/>
          <p:nvPr/>
        </p:nvSpPr>
        <p:spPr>
          <a:xfrm>
            <a:off x="7734107" y="2376619"/>
            <a:ext cx="609585" cy="444489"/>
          </a:xfrm>
          <a:prstGeom prst="rect">
            <a:avLst/>
          </a:prstGeom>
          <a:noFill/>
          <a:ln/>
        </p:spPr>
        <p:txBody>
          <a:bodyPr wrap="square" lIns="0" tIns="0" rIns="0" bIns="0" rtlCol="0" anchor="t"/>
          <a:lstStyle/>
          <a:p>
            <a:pPr marL="0" indent="0" algn="r">
              <a:lnSpc>
                <a:spcPct val="100000"/>
              </a:lnSpc>
              <a:buNone/>
            </a:pPr>
            <a:r>
              <a:rPr lang="en-US" sz="2500" dirty="0">
                <a:solidFill>
                  <a:srgbClr val="00FFFF"/>
                </a:solidFill>
                <a:latin typeface="Calibri" pitchFamily="34" charset="0"/>
                <a:ea typeface="Calibri" pitchFamily="34" charset="-122"/>
                <a:cs typeface="Calibri" pitchFamily="34" charset="-120"/>
              </a:rPr>
              <a:t>3
</a:t>
            </a:r>
            <a:endParaRPr lang="en-US" sz="2500" dirty="0"/>
          </a:p>
        </p:txBody>
      </p:sp>
      <p:sp>
        <p:nvSpPr>
          <p:cNvPr id="13" name="Text 11"/>
          <p:cNvSpPr/>
          <p:nvPr/>
        </p:nvSpPr>
        <p:spPr>
          <a:xfrm>
            <a:off x="8457989" y="2458659"/>
            <a:ext cx="2666933" cy="1015975"/>
          </a:xfrm>
          <a:prstGeom prst="rect">
            <a:avLst/>
          </a:prstGeom>
          <a:noFill/>
          <a:ln/>
        </p:spPr>
        <p:txBody>
          <a:bodyPr wrap="square" lIns="0" tIns="0" rIns="0" bIns="0" rtlCol="0" anchor="t"/>
          <a:lstStyle/>
          <a:p>
            <a:pPr marL="0" indent="0" algn="l">
              <a:lnSpc>
                <a:spcPct val="125000"/>
              </a:lnSpc>
              <a:buNone/>
            </a:pPr>
            <a:r>
              <a:rPr lang="en-US" sz="1300" b="1" dirty="0">
                <a:solidFill>
                  <a:srgbClr val="FFD700"/>
                </a:solidFill>
                <a:latin typeface="Calibri" pitchFamily="34" charset="0"/>
                <a:ea typeface="Calibri" pitchFamily="34" charset="-122"/>
                <a:cs typeface="Calibri" pitchFamily="34" charset="-120"/>
              </a:rPr>
              <a:t>Tailgating Risks
</a:t>
            </a:r>
            <a:endParaRPr lang="en-US" sz="1300" dirty="0"/>
          </a:p>
        </p:txBody>
      </p:sp>
      <p:sp>
        <p:nvSpPr>
          <p:cNvPr id="14" name="Text 12"/>
          <p:cNvSpPr/>
          <p:nvPr/>
        </p:nvSpPr>
        <p:spPr>
          <a:xfrm>
            <a:off x="8457989" y="3411135"/>
            <a:ext cx="2666933" cy="2245304"/>
          </a:xfrm>
          <a:prstGeom prst="rect">
            <a:avLst/>
          </a:prstGeom>
          <a:noFill/>
          <a:ln/>
        </p:spPr>
        <p:txBody>
          <a:bodyPr wrap="square" lIns="0" tIns="0" rIns="0" bIns="0" rtlCol="0" anchor="t"/>
          <a:lstStyle/>
          <a:p>
            <a:pPr marL="0" indent="0" algn="l">
              <a:lnSpc>
                <a:spcPct val="140000"/>
              </a:lnSpc>
              <a:buNone/>
            </a:pPr>
            <a:r>
              <a:rPr lang="en-US" sz="1300" dirty="0">
                <a:solidFill>
                  <a:srgbClr val="E0E0E0"/>
                </a:solidFill>
                <a:latin typeface="Calibri" pitchFamily="34" charset="0"/>
                <a:ea typeface="Calibri" pitchFamily="34" charset="-122"/>
                <a:cs typeface="Calibri" pitchFamily="34" charset="-120"/>
              </a:rPr>
              <a:t>Tailgating occurs when unauthorized individuals gain physical access to secure areas by following authorized personnel, exploiting social norms of politeness and trust in shared spaces.
</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Best Practices to Avoid Phishing
</a:t>
            </a:r>
            <a:endParaRPr lang="en-US" sz="2900" dirty="0"/>
          </a:p>
        </p:txBody>
      </p:sp>
      <p:sp>
        <p:nvSpPr>
          <p:cNvPr id="3" name="Text 1"/>
          <p:cNvSpPr/>
          <p:nvPr/>
        </p:nvSpPr>
        <p:spPr>
          <a:xfrm>
            <a:off x="761981" y="1346166"/>
            <a:ext cx="355591" cy="396230"/>
          </a:xfrm>
          <a:prstGeom prst="rect">
            <a:avLst/>
          </a:prstGeom>
          <a:noFill/>
          <a:ln/>
        </p:spPr>
        <p:txBody>
          <a:bodyPr wrap="square" lIns="0" tIns="0" rIns="0" bIns="0" rtlCol="0" anchor="t"/>
          <a:lstStyle/>
          <a:p>
            <a:pPr marL="0" indent="0" algn="ctr">
              <a:lnSpc>
                <a:spcPct val="130000"/>
              </a:lnSpc>
              <a:buNone/>
            </a:pPr>
            <a:r>
              <a:rPr lang="en-US" sz="2200" b="1" dirty="0">
                <a:solidFill>
                  <a:srgbClr val="00FFFF"/>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269968" y="1346166"/>
            <a:ext cx="9080273"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Implement Multi-Factor Authentication
</a:t>
            </a:r>
            <a:endParaRPr lang="en-US" sz="1300" dirty="0"/>
          </a:p>
        </p:txBody>
      </p:sp>
      <p:sp>
        <p:nvSpPr>
          <p:cNvPr id="5" name="Text 3"/>
          <p:cNvSpPr/>
          <p:nvPr/>
        </p:nvSpPr>
        <p:spPr>
          <a:xfrm>
            <a:off x="1269968" y="1752556"/>
            <a:ext cx="9080273" cy="924537"/>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Utilize MFA to enhance security. Studies show that MFA can block 99.9% of automated attacks, significantly reducing the risk of unauthorized access to sensitive information.
</a:t>
            </a:r>
            <a:endParaRPr lang="en-US" sz="1300" dirty="0"/>
          </a:p>
        </p:txBody>
      </p:sp>
      <p:sp>
        <p:nvSpPr>
          <p:cNvPr id="6" name="Text 4"/>
          <p:cNvSpPr/>
          <p:nvPr/>
        </p:nvSpPr>
        <p:spPr>
          <a:xfrm>
            <a:off x="761981" y="2552636"/>
            <a:ext cx="355591" cy="396230"/>
          </a:xfrm>
          <a:prstGeom prst="rect">
            <a:avLst/>
          </a:prstGeom>
          <a:noFill/>
          <a:ln/>
        </p:spPr>
        <p:txBody>
          <a:bodyPr wrap="square" lIns="0" tIns="0" rIns="0" bIns="0" rtlCol="0" anchor="t"/>
          <a:lstStyle/>
          <a:p>
            <a:pPr marL="0" indent="0" algn="ctr">
              <a:lnSpc>
                <a:spcPct val="130000"/>
              </a:lnSpc>
              <a:buNone/>
            </a:pPr>
            <a:r>
              <a:rPr lang="en-US" sz="2200" b="1" dirty="0">
                <a:solidFill>
                  <a:srgbClr val="00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269968" y="2552636"/>
            <a:ext cx="9080273"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Regular Software Updates
</a:t>
            </a:r>
            <a:endParaRPr lang="en-US" sz="1300" dirty="0"/>
          </a:p>
        </p:txBody>
      </p:sp>
      <p:sp>
        <p:nvSpPr>
          <p:cNvPr id="8" name="Text 6"/>
          <p:cNvSpPr/>
          <p:nvPr/>
        </p:nvSpPr>
        <p:spPr>
          <a:xfrm>
            <a:off x="1269968" y="2959026"/>
            <a:ext cx="9080273" cy="924537"/>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Keep all systems updated to patch vulnerabilities. In 2022, 60% of breaches exploited unpatched software, highlighting the importance of timely updates in maintaining security.
</a:t>
            </a:r>
            <a:endParaRPr lang="en-US" sz="1300" dirty="0"/>
          </a:p>
        </p:txBody>
      </p:sp>
      <p:sp>
        <p:nvSpPr>
          <p:cNvPr id="9" name="Text 7"/>
          <p:cNvSpPr/>
          <p:nvPr/>
        </p:nvSpPr>
        <p:spPr>
          <a:xfrm>
            <a:off x="761981" y="3759106"/>
            <a:ext cx="355591" cy="396230"/>
          </a:xfrm>
          <a:prstGeom prst="rect">
            <a:avLst/>
          </a:prstGeom>
          <a:noFill/>
          <a:ln/>
        </p:spPr>
        <p:txBody>
          <a:bodyPr wrap="square" lIns="0" tIns="0" rIns="0" bIns="0" rtlCol="0" anchor="t"/>
          <a:lstStyle/>
          <a:p>
            <a:pPr marL="0" indent="0" algn="ctr">
              <a:lnSpc>
                <a:spcPct val="130000"/>
              </a:lnSpc>
              <a:buNone/>
            </a:pPr>
            <a:r>
              <a:rPr lang="en-US" sz="2200" b="1" dirty="0">
                <a:solidFill>
                  <a:srgbClr val="00FFFF"/>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269968" y="3759106"/>
            <a:ext cx="9080273"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Conduct Phishing Simulations
</a:t>
            </a:r>
            <a:endParaRPr lang="en-US" sz="1300" dirty="0"/>
          </a:p>
        </p:txBody>
      </p:sp>
      <p:sp>
        <p:nvSpPr>
          <p:cNvPr id="11" name="Text 9"/>
          <p:cNvSpPr/>
          <p:nvPr/>
        </p:nvSpPr>
        <p:spPr>
          <a:xfrm>
            <a:off x="1269968" y="4165496"/>
            <a:ext cx="9080273" cy="924537"/>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Regularly test employees with phishing simulations. Organizations that conduct these exercises see a 70% improvement in threat recognition, fostering a proactive security culture.
</a:t>
            </a:r>
            <a:endParaRPr lang="en-US" sz="1300" dirty="0"/>
          </a:p>
        </p:txBody>
      </p:sp>
      <p:sp>
        <p:nvSpPr>
          <p:cNvPr id="12" name="Text 10"/>
          <p:cNvSpPr/>
          <p:nvPr/>
        </p:nvSpPr>
        <p:spPr>
          <a:xfrm>
            <a:off x="761981" y="4965576"/>
            <a:ext cx="355591" cy="396230"/>
          </a:xfrm>
          <a:prstGeom prst="rect">
            <a:avLst/>
          </a:prstGeom>
          <a:noFill/>
          <a:ln/>
        </p:spPr>
        <p:txBody>
          <a:bodyPr wrap="square" lIns="0" tIns="0" rIns="0" bIns="0" rtlCol="0" anchor="t"/>
          <a:lstStyle/>
          <a:p>
            <a:pPr marL="0" indent="0" algn="ctr">
              <a:lnSpc>
                <a:spcPct val="130000"/>
              </a:lnSpc>
              <a:buNone/>
            </a:pPr>
            <a:r>
              <a:rPr lang="en-US" sz="2200" b="1" dirty="0">
                <a:solidFill>
                  <a:srgbClr val="00FFFF"/>
                </a:solidFill>
                <a:latin typeface="Calibri" pitchFamily="34" charset="0"/>
                <a:ea typeface="Calibri" pitchFamily="34" charset="-122"/>
                <a:cs typeface="Calibri" pitchFamily="34" charset="-120"/>
              </a:rPr>
              <a:t>✓</a:t>
            </a:r>
            <a:endParaRPr lang="en-US" sz="2200" dirty="0"/>
          </a:p>
        </p:txBody>
      </p:sp>
      <p:sp>
        <p:nvSpPr>
          <p:cNvPr id="13" name="Text 11"/>
          <p:cNvSpPr/>
          <p:nvPr/>
        </p:nvSpPr>
        <p:spPr>
          <a:xfrm>
            <a:off x="1269968" y="4965576"/>
            <a:ext cx="9080273"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Encourage a Culture of Skepticism
</a:t>
            </a:r>
            <a:endParaRPr lang="en-US" sz="1300" dirty="0"/>
          </a:p>
        </p:txBody>
      </p:sp>
      <p:sp>
        <p:nvSpPr>
          <p:cNvPr id="14" name="Text 12"/>
          <p:cNvSpPr/>
          <p:nvPr/>
        </p:nvSpPr>
        <p:spPr>
          <a:xfrm>
            <a:off x="1269968" y="5371966"/>
            <a:ext cx="9080273" cy="924537"/>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Promote verification before clicking links. Research indicates that 85% of successful phishing attacks stem from user error, emphasizing the need for cautious behavior online.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Real-World Phishing Examples
</a:t>
            </a:r>
            <a:endParaRPr lang="en-US" sz="2900" dirty="0"/>
          </a:p>
        </p:txBody>
      </p:sp>
      <p:sp>
        <p:nvSpPr>
          <p:cNvPr id="3" name="Shape 1"/>
          <p:cNvSpPr/>
          <p:nvPr/>
        </p:nvSpPr>
        <p:spPr>
          <a:xfrm>
            <a:off x="761981" y="5173850"/>
            <a:ext cx="406390" cy="406390"/>
          </a:xfrm>
          <a:prstGeom prst="ellipse">
            <a:avLst/>
          </a:prstGeom>
          <a:solidFill>
            <a:srgbClr val="00FFFF">
              <a:alpha val="90000"/>
            </a:srgbClr>
          </a:solidFill>
          <a:ln/>
        </p:spPr>
      </p:sp>
      <p:sp>
        <p:nvSpPr>
          <p:cNvPr id="4" name="Text 2"/>
          <p:cNvSpPr/>
          <p:nvPr/>
        </p:nvSpPr>
        <p:spPr>
          <a:xfrm>
            <a:off x="1422364" y="1696678"/>
            <a:ext cx="10007350" cy="380990"/>
          </a:xfrm>
          <a:prstGeom prst="rect">
            <a:avLst/>
          </a:prstGeom>
          <a:noFill/>
          <a:ln/>
        </p:spPr>
        <p:txBody>
          <a:bodyPr wrap="square" lIns="0" tIns="0" rIns="0" bIns="0" rtlCol="0" anchor="t"/>
          <a:lstStyle/>
          <a:p>
            <a:pPr marL="0" indent="0" algn="l">
              <a:lnSpc>
                <a:spcPct val="120000"/>
              </a:lnSpc>
              <a:buNone/>
            </a:pPr>
            <a:r>
              <a:rPr lang="en-US" sz="1300" b="1" dirty="0">
                <a:solidFill>
                  <a:srgbClr val="7030A0"/>
                </a:solidFill>
                <a:latin typeface="Calibri" pitchFamily="34" charset="0"/>
                <a:ea typeface="Calibri" pitchFamily="34" charset="-122"/>
                <a:cs typeface="Calibri" pitchFamily="34" charset="-120"/>
              </a:rPr>
              <a:t>TARGET'S 2013 BREACH
</a:t>
            </a:r>
            <a:endParaRPr lang="en-US" sz="1300" dirty="0">
              <a:solidFill>
                <a:srgbClr val="7030A0"/>
              </a:solidFill>
            </a:endParaRPr>
          </a:p>
        </p:txBody>
      </p:sp>
      <p:sp>
        <p:nvSpPr>
          <p:cNvPr id="5" name="Text 3"/>
          <p:cNvSpPr/>
          <p:nvPr/>
        </p:nvSpPr>
        <p:spPr>
          <a:xfrm>
            <a:off x="1422364" y="2103067"/>
            <a:ext cx="10007350" cy="1333467"/>
          </a:xfrm>
          <a:prstGeom prst="rect">
            <a:avLst/>
          </a:prstGeom>
          <a:noFill/>
          <a:ln/>
        </p:spPr>
        <p:txBody>
          <a:bodyPr wrap="square" lIns="0" tIns="0" rIns="0" bIns="0" rtlCol="0" anchor="t"/>
          <a:lstStyle/>
          <a:p>
            <a:pPr marL="0" indent="0" algn="l">
              <a:lnSpc>
                <a:spcPct val="150000"/>
              </a:lnSpc>
              <a:buNone/>
            </a:pPr>
            <a:r>
              <a:rPr lang="en-US" sz="1300" dirty="0">
                <a:solidFill>
                  <a:srgbClr val="E0E0E0"/>
                </a:solidFill>
                <a:latin typeface="Calibri" pitchFamily="34" charset="0"/>
                <a:ea typeface="Calibri" pitchFamily="34" charset="-122"/>
                <a:cs typeface="Calibri" pitchFamily="34" charset="-120"/>
              </a:rPr>
              <a:t>In 2013, Target suffered a massive data breach affecting 40 million credit card accounts, initiated by a phishing email that compromised vendor credentials, highlighting the risks of third-party access.
</a:t>
            </a:r>
            <a:endParaRPr lang="en-US" sz="1300" dirty="0"/>
          </a:p>
        </p:txBody>
      </p:sp>
      <p:sp>
        <p:nvSpPr>
          <p:cNvPr id="6" name="Shape 4"/>
          <p:cNvSpPr/>
          <p:nvPr/>
        </p:nvSpPr>
        <p:spPr>
          <a:xfrm>
            <a:off x="761981" y="2866020"/>
            <a:ext cx="406390" cy="406390"/>
          </a:xfrm>
          <a:prstGeom prst="ellipse">
            <a:avLst/>
          </a:prstGeom>
          <a:solidFill>
            <a:srgbClr val="00FFFF">
              <a:alpha val="90000"/>
            </a:srgbClr>
          </a:solidFill>
          <a:ln/>
        </p:spPr>
      </p:sp>
      <p:sp>
        <p:nvSpPr>
          <p:cNvPr id="7" name="Text 5"/>
          <p:cNvSpPr/>
          <p:nvPr/>
        </p:nvSpPr>
        <p:spPr>
          <a:xfrm>
            <a:off x="1422364" y="2859968"/>
            <a:ext cx="10007350" cy="380990"/>
          </a:xfrm>
          <a:prstGeom prst="rect">
            <a:avLst/>
          </a:prstGeom>
          <a:noFill/>
          <a:ln/>
        </p:spPr>
        <p:txBody>
          <a:bodyPr wrap="square" lIns="0" tIns="0" rIns="0" bIns="0" rtlCol="0" anchor="t"/>
          <a:lstStyle/>
          <a:p>
            <a:pPr marL="0" indent="0" algn="l">
              <a:lnSpc>
                <a:spcPct val="120000"/>
              </a:lnSpc>
              <a:buNone/>
            </a:pPr>
            <a:r>
              <a:rPr lang="en-US" sz="1300" b="1" dirty="0">
                <a:solidFill>
                  <a:srgbClr val="00FFFF"/>
                </a:solidFill>
                <a:latin typeface="Calibri" pitchFamily="34" charset="0"/>
                <a:ea typeface="Calibri" pitchFamily="34" charset="-122"/>
                <a:cs typeface="Calibri" pitchFamily="34" charset="-120"/>
              </a:rPr>
              <a:t>GOOGLE AND FACEBOOK SCAM
</a:t>
            </a:r>
            <a:endParaRPr lang="en-US" sz="1300" dirty="0"/>
          </a:p>
        </p:txBody>
      </p:sp>
      <p:sp>
        <p:nvSpPr>
          <p:cNvPr id="8" name="Text 6"/>
          <p:cNvSpPr/>
          <p:nvPr/>
        </p:nvSpPr>
        <p:spPr>
          <a:xfrm>
            <a:off x="1422364" y="3266358"/>
            <a:ext cx="10007350" cy="1066773"/>
          </a:xfrm>
          <a:prstGeom prst="rect">
            <a:avLst/>
          </a:prstGeom>
          <a:noFill/>
          <a:ln/>
        </p:spPr>
        <p:txBody>
          <a:bodyPr wrap="square" lIns="0" tIns="0" rIns="0" bIns="0" rtlCol="0" anchor="t"/>
          <a:lstStyle/>
          <a:p>
            <a:pPr marL="0" indent="0" algn="l">
              <a:lnSpc>
                <a:spcPct val="150000"/>
              </a:lnSpc>
              <a:buNone/>
            </a:pPr>
            <a:r>
              <a:rPr lang="en-US" sz="1300" dirty="0">
                <a:solidFill>
                  <a:srgbClr val="E0E0E0"/>
                </a:solidFill>
                <a:latin typeface="Calibri" pitchFamily="34" charset="0"/>
                <a:ea typeface="Calibri" pitchFamily="34" charset="-122"/>
                <a:cs typeface="Calibri" pitchFamily="34" charset="-120"/>
              </a:rPr>
              <a:t>Between 2013 and 2015, a Lithuanian hacker scammed Google and Facebook out of $100 million through phishing emails, showcasing the financial impact of sophisticated phishing schemes.
</a:t>
            </a:r>
            <a:endParaRPr lang="en-US" sz="1300" dirty="0"/>
          </a:p>
        </p:txBody>
      </p:sp>
      <p:sp>
        <p:nvSpPr>
          <p:cNvPr id="9" name="Shape 7"/>
          <p:cNvSpPr/>
          <p:nvPr/>
        </p:nvSpPr>
        <p:spPr>
          <a:xfrm>
            <a:off x="761981" y="4091929"/>
            <a:ext cx="406390" cy="406390"/>
          </a:xfrm>
          <a:prstGeom prst="ellipse">
            <a:avLst/>
          </a:prstGeom>
          <a:solidFill>
            <a:srgbClr val="8B5CF6">
              <a:alpha val="90000"/>
            </a:srgbClr>
          </a:solidFill>
          <a:ln/>
        </p:spPr>
      </p:sp>
      <p:sp>
        <p:nvSpPr>
          <p:cNvPr id="10" name="Text 8"/>
          <p:cNvSpPr/>
          <p:nvPr/>
        </p:nvSpPr>
        <p:spPr>
          <a:xfrm>
            <a:off x="1422364" y="4023259"/>
            <a:ext cx="10007350" cy="380990"/>
          </a:xfrm>
          <a:prstGeom prst="rect">
            <a:avLst/>
          </a:prstGeom>
          <a:noFill/>
          <a:ln/>
        </p:spPr>
        <p:txBody>
          <a:bodyPr wrap="square" lIns="0" tIns="0" rIns="0" bIns="0" rtlCol="0" anchor="t"/>
          <a:lstStyle/>
          <a:p>
            <a:pPr marL="0" indent="0" algn="l">
              <a:lnSpc>
                <a:spcPct val="120000"/>
              </a:lnSpc>
              <a:buNone/>
            </a:pPr>
            <a:r>
              <a:rPr lang="en-US" sz="1300" b="1" dirty="0">
                <a:solidFill>
                  <a:srgbClr val="8B5CF6"/>
                </a:solidFill>
                <a:latin typeface="Calibri" pitchFamily="34" charset="0"/>
                <a:ea typeface="Calibri" pitchFamily="34" charset="-122"/>
                <a:cs typeface="Calibri" pitchFamily="34" charset="-120"/>
              </a:rPr>
              <a:t>2020 TWITTER HACK
</a:t>
            </a:r>
            <a:endParaRPr lang="en-US" sz="1300" dirty="0"/>
          </a:p>
        </p:txBody>
      </p:sp>
      <p:sp>
        <p:nvSpPr>
          <p:cNvPr id="11" name="Text 9"/>
          <p:cNvSpPr/>
          <p:nvPr/>
        </p:nvSpPr>
        <p:spPr>
          <a:xfrm>
            <a:off x="1422364" y="4429649"/>
            <a:ext cx="10007350" cy="1333467"/>
          </a:xfrm>
          <a:prstGeom prst="rect">
            <a:avLst/>
          </a:prstGeom>
          <a:noFill/>
          <a:ln/>
        </p:spPr>
        <p:txBody>
          <a:bodyPr wrap="square" lIns="0" tIns="0" rIns="0" bIns="0" rtlCol="0" anchor="t"/>
          <a:lstStyle/>
          <a:p>
            <a:pPr marL="0" indent="0" algn="l">
              <a:lnSpc>
                <a:spcPct val="150000"/>
              </a:lnSpc>
              <a:buNone/>
            </a:pPr>
            <a:r>
              <a:rPr lang="en-US" sz="1300" dirty="0">
                <a:solidFill>
                  <a:srgbClr val="E0E0E0"/>
                </a:solidFill>
                <a:latin typeface="Calibri" pitchFamily="34" charset="0"/>
                <a:ea typeface="Calibri" pitchFamily="34" charset="-122"/>
                <a:cs typeface="Calibri" pitchFamily="34" charset="-120"/>
              </a:rPr>
              <a:t>The 2020 Twitter hack exploited social engineering tactics, where attackers gained access to high-profile accounts by tricking employees into revealing credentials, emphasizing the importance of employee training.
</a:t>
            </a:r>
            <a:endParaRPr lang="en-US" sz="1300" dirty="0"/>
          </a:p>
        </p:txBody>
      </p:sp>
      <p:sp>
        <p:nvSpPr>
          <p:cNvPr id="12" name="Text 10"/>
          <p:cNvSpPr/>
          <p:nvPr/>
        </p:nvSpPr>
        <p:spPr>
          <a:xfrm>
            <a:off x="1422364" y="5186550"/>
            <a:ext cx="10007350" cy="380990"/>
          </a:xfrm>
          <a:prstGeom prst="rect">
            <a:avLst/>
          </a:prstGeom>
          <a:noFill/>
          <a:ln/>
        </p:spPr>
        <p:txBody>
          <a:bodyPr wrap="square" lIns="0" tIns="0" rIns="0" bIns="0" rtlCol="0" anchor="t"/>
          <a:lstStyle/>
          <a:p>
            <a:pPr marL="0" indent="0" algn="l">
              <a:lnSpc>
                <a:spcPct val="120000"/>
              </a:lnSpc>
              <a:buNone/>
            </a:pPr>
            <a:r>
              <a:rPr lang="en-US" sz="1300" b="1" dirty="0">
                <a:solidFill>
                  <a:srgbClr val="00FFFF"/>
                </a:solidFill>
                <a:latin typeface="Calibri" pitchFamily="34" charset="0"/>
                <a:ea typeface="Calibri" pitchFamily="34" charset="-122"/>
                <a:cs typeface="Calibri" pitchFamily="34" charset="-120"/>
              </a:rPr>
              <a:t>COLONIAL PIPELINE ATTACK
</a:t>
            </a:r>
            <a:endParaRPr lang="en-US" sz="1300" dirty="0"/>
          </a:p>
        </p:txBody>
      </p:sp>
      <p:sp>
        <p:nvSpPr>
          <p:cNvPr id="13" name="Text 11"/>
          <p:cNvSpPr/>
          <p:nvPr/>
        </p:nvSpPr>
        <p:spPr>
          <a:xfrm>
            <a:off x="1422364" y="5592940"/>
            <a:ext cx="10007350" cy="1066773"/>
          </a:xfrm>
          <a:prstGeom prst="rect">
            <a:avLst/>
          </a:prstGeom>
          <a:noFill/>
          <a:ln/>
        </p:spPr>
        <p:txBody>
          <a:bodyPr wrap="square" lIns="0" tIns="0" rIns="0" bIns="0" rtlCol="0" anchor="t"/>
          <a:lstStyle/>
          <a:p>
            <a:pPr marL="0" indent="0" algn="l">
              <a:lnSpc>
                <a:spcPct val="150000"/>
              </a:lnSpc>
              <a:buNone/>
            </a:pPr>
            <a:r>
              <a:rPr lang="en-US" sz="1300" dirty="0">
                <a:solidFill>
                  <a:srgbClr val="E0E0E0"/>
                </a:solidFill>
                <a:latin typeface="Calibri" pitchFamily="34" charset="0"/>
                <a:ea typeface="Calibri" pitchFamily="34" charset="-122"/>
                <a:cs typeface="Calibri" pitchFamily="34" charset="-120"/>
              </a:rPr>
              <a:t>The 2021 Colonial Pipeline ransomware attack was linked to a phishing incident, demonstrating how phishing can lead to significant operational disruptions and national security concerns.
</a:t>
            </a:r>
            <a:endParaRPr lang="en-US" sz="1300" dirty="0"/>
          </a:p>
        </p:txBody>
      </p:sp>
      <p:sp>
        <p:nvSpPr>
          <p:cNvPr id="14" name="Shape 7">
            <a:extLst>
              <a:ext uri="{FF2B5EF4-FFF2-40B4-BE49-F238E27FC236}">
                <a16:creationId xmlns:a16="http://schemas.microsoft.com/office/drawing/2014/main" id="{31F76F17-B1C7-3152-1ABA-9954986D1980}"/>
              </a:ext>
            </a:extLst>
          </p:cNvPr>
          <p:cNvSpPr/>
          <p:nvPr/>
        </p:nvSpPr>
        <p:spPr>
          <a:xfrm>
            <a:off x="761981" y="1640111"/>
            <a:ext cx="406390" cy="406390"/>
          </a:xfrm>
          <a:prstGeom prst="ellipse">
            <a:avLst/>
          </a:prstGeom>
          <a:solidFill>
            <a:srgbClr val="8B5CF6">
              <a:alpha val="90000"/>
            </a:srgbClr>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601907"/>
            <a:ext cx="10667733" cy="660383"/>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Phishing Attack Lifecycle
</a:t>
            </a:r>
            <a:endParaRPr lang="en-US" sz="2900" dirty="0"/>
          </a:p>
        </p:txBody>
      </p:sp>
      <p:pic>
        <p:nvPicPr>
          <p:cNvPr id="3" name="Image 0" descr="preencoded.png"/>
          <p:cNvPicPr>
            <a:picLocks noChangeAspect="1"/>
          </p:cNvPicPr>
          <p:nvPr/>
        </p:nvPicPr>
        <p:blipFill>
          <a:blip r:embed="rId3"/>
          <a:srcRect/>
          <a:stretch/>
        </p:blipFill>
        <p:spPr>
          <a:xfrm>
            <a:off x="889926" y="1346166"/>
            <a:ext cx="9600960" cy="533975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How to Respond to Phishing Attempts
</a:t>
            </a:r>
            <a:endParaRPr lang="en-US" sz="2900" dirty="0"/>
          </a:p>
        </p:txBody>
      </p:sp>
      <p:sp>
        <p:nvSpPr>
          <p:cNvPr id="3" name="Text 1"/>
          <p:cNvSpPr/>
          <p:nvPr/>
        </p:nvSpPr>
        <p:spPr>
          <a:xfrm>
            <a:off x="761981" y="1696678"/>
            <a:ext cx="10667733" cy="380990"/>
          </a:xfrm>
          <a:prstGeom prst="rect">
            <a:avLst/>
          </a:prstGeom>
          <a:noFill/>
          <a:ln/>
        </p:spPr>
        <p:txBody>
          <a:bodyPr wrap="square" lIns="0" tIns="0" rIns="0" bIns="0" rtlCol="0" anchor="t"/>
          <a:lstStyle/>
          <a:p>
            <a:pPr marL="0" indent="0" algn="l">
              <a:lnSpc>
                <a:spcPct val="120000"/>
              </a:lnSpc>
              <a:buNone/>
            </a:pPr>
            <a:r>
              <a:rPr lang="en-US" sz="1300" b="1" dirty="0">
                <a:solidFill>
                  <a:srgbClr val="FFD700"/>
                </a:solidFill>
                <a:latin typeface="Calibri" pitchFamily="34" charset="0"/>
                <a:ea typeface="Calibri" pitchFamily="34" charset="-122"/>
                <a:cs typeface="Calibri" pitchFamily="34" charset="-120"/>
              </a:rPr>
              <a:t>1. Do Not Click Links or Download Attachments
</a:t>
            </a:r>
            <a:endParaRPr lang="en-US" sz="1300" dirty="0"/>
          </a:p>
        </p:txBody>
      </p:sp>
      <p:sp>
        <p:nvSpPr>
          <p:cNvPr id="4" name="Text 2"/>
          <p:cNvSpPr/>
          <p:nvPr/>
        </p:nvSpPr>
        <p:spPr>
          <a:xfrm>
            <a:off x="761981" y="2039569"/>
            <a:ext cx="10667733" cy="800080"/>
          </a:xfrm>
          <a:prstGeom prst="rect">
            <a:avLst/>
          </a:prstGeom>
          <a:noFill/>
          <a:ln/>
        </p:spPr>
        <p:txBody>
          <a:bodyPr wrap="square" lIns="0" tIns="0" rIns="0" bIns="0" rtlCol="0" anchor="t"/>
          <a:lstStyle/>
          <a:p>
            <a:pPr marL="0" indent="0" algn="l">
              <a:lnSpc>
                <a:spcPct val="150000"/>
              </a:lnSpc>
              <a:buNone/>
            </a:pPr>
            <a:r>
              <a:rPr lang="en-US" sz="1300" dirty="0">
                <a:solidFill>
                  <a:srgbClr val="E0E0E0"/>
                </a:solidFill>
                <a:latin typeface="Calibri" pitchFamily="34" charset="0"/>
                <a:ea typeface="Calibri" pitchFamily="34" charset="-122"/>
                <a:cs typeface="Calibri" pitchFamily="34" charset="-120"/>
              </a:rPr>
              <a:t>If you suspect an email is a phishing attempt, avoid clicking on any links or downloading attachments to prevent malware installation.
</a:t>
            </a:r>
            <a:endParaRPr lang="en-US" sz="1300" dirty="0"/>
          </a:p>
        </p:txBody>
      </p:sp>
      <p:sp>
        <p:nvSpPr>
          <p:cNvPr id="5" name="Text 3"/>
          <p:cNvSpPr/>
          <p:nvPr/>
        </p:nvSpPr>
        <p:spPr>
          <a:xfrm>
            <a:off x="761981" y="2928547"/>
            <a:ext cx="10667733" cy="380990"/>
          </a:xfrm>
          <a:prstGeom prst="rect">
            <a:avLst/>
          </a:prstGeom>
          <a:noFill/>
          <a:ln/>
        </p:spPr>
        <p:txBody>
          <a:bodyPr wrap="square" lIns="0" tIns="0" rIns="0" bIns="0" rtlCol="0" anchor="t"/>
          <a:lstStyle/>
          <a:p>
            <a:pPr marL="0" indent="0" algn="l">
              <a:lnSpc>
                <a:spcPct val="120000"/>
              </a:lnSpc>
              <a:buNone/>
            </a:pPr>
            <a:r>
              <a:rPr lang="en-US" sz="1300" b="1" dirty="0">
                <a:solidFill>
                  <a:srgbClr val="FFD700"/>
                </a:solidFill>
                <a:latin typeface="Calibri" pitchFamily="34" charset="0"/>
                <a:ea typeface="Calibri" pitchFamily="34" charset="-122"/>
                <a:cs typeface="Calibri" pitchFamily="34" charset="-120"/>
              </a:rPr>
              <a:t>2. Report to IT Security Team
</a:t>
            </a:r>
            <a:endParaRPr lang="en-US" sz="1300" dirty="0"/>
          </a:p>
        </p:txBody>
      </p:sp>
      <p:sp>
        <p:nvSpPr>
          <p:cNvPr id="6" name="Text 4"/>
          <p:cNvSpPr/>
          <p:nvPr/>
        </p:nvSpPr>
        <p:spPr>
          <a:xfrm>
            <a:off x="761981" y="3271438"/>
            <a:ext cx="10667733" cy="800080"/>
          </a:xfrm>
          <a:prstGeom prst="rect">
            <a:avLst/>
          </a:prstGeom>
          <a:noFill/>
          <a:ln/>
        </p:spPr>
        <p:txBody>
          <a:bodyPr wrap="square" lIns="0" tIns="0" rIns="0" bIns="0" rtlCol="0" anchor="t"/>
          <a:lstStyle/>
          <a:p>
            <a:pPr marL="0" indent="0" algn="l">
              <a:lnSpc>
                <a:spcPct val="150000"/>
              </a:lnSpc>
              <a:buNone/>
            </a:pPr>
            <a:r>
              <a:rPr lang="en-US" sz="1300" dirty="0">
                <a:solidFill>
                  <a:srgbClr val="E0E0E0"/>
                </a:solidFill>
                <a:latin typeface="Calibri" pitchFamily="34" charset="0"/>
                <a:ea typeface="Calibri" pitchFamily="34" charset="-122"/>
                <a:cs typeface="Calibri" pitchFamily="34" charset="-120"/>
              </a:rPr>
              <a:t>Immediately forward the phishing email to your IT security team for investigation and to help protect others in the organization.
</a:t>
            </a:r>
            <a:endParaRPr lang="en-US" sz="1300" dirty="0"/>
          </a:p>
        </p:txBody>
      </p:sp>
      <p:sp>
        <p:nvSpPr>
          <p:cNvPr id="7" name="Text 5"/>
          <p:cNvSpPr/>
          <p:nvPr/>
        </p:nvSpPr>
        <p:spPr>
          <a:xfrm>
            <a:off x="761981" y="4160416"/>
            <a:ext cx="10667733" cy="380990"/>
          </a:xfrm>
          <a:prstGeom prst="rect">
            <a:avLst/>
          </a:prstGeom>
          <a:noFill/>
          <a:ln/>
        </p:spPr>
        <p:txBody>
          <a:bodyPr wrap="square" lIns="0" tIns="0" rIns="0" bIns="0" rtlCol="0" anchor="t"/>
          <a:lstStyle/>
          <a:p>
            <a:pPr marL="0" indent="0" algn="l">
              <a:lnSpc>
                <a:spcPct val="120000"/>
              </a:lnSpc>
              <a:buNone/>
            </a:pPr>
            <a:r>
              <a:rPr lang="en-US" sz="1300" b="1" dirty="0">
                <a:solidFill>
                  <a:srgbClr val="FFD700"/>
                </a:solidFill>
                <a:latin typeface="Calibri" pitchFamily="34" charset="0"/>
                <a:ea typeface="Calibri" pitchFamily="34" charset="-122"/>
                <a:cs typeface="Calibri" pitchFamily="34" charset="-120"/>
              </a:rPr>
              <a:t>3. Delete the Email
</a:t>
            </a:r>
            <a:endParaRPr lang="en-US" sz="1300" dirty="0"/>
          </a:p>
        </p:txBody>
      </p:sp>
      <p:sp>
        <p:nvSpPr>
          <p:cNvPr id="8" name="Text 6"/>
          <p:cNvSpPr/>
          <p:nvPr/>
        </p:nvSpPr>
        <p:spPr>
          <a:xfrm>
            <a:off x="761981" y="4503307"/>
            <a:ext cx="10667733" cy="800080"/>
          </a:xfrm>
          <a:prstGeom prst="rect">
            <a:avLst/>
          </a:prstGeom>
          <a:noFill/>
          <a:ln/>
        </p:spPr>
        <p:txBody>
          <a:bodyPr wrap="square" lIns="0" tIns="0" rIns="0" bIns="0" rtlCol="0" anchor="t"/>
          <a:lstStyle/>
          <a:p>
            <a:pPr marL="0" indent="0" algn="l">
              <a:lnSpc>
                <a:spcPct val="150000"/>
              </a:lnSpc>
              <a:buNone/>
            </a:pPr>
            <a:r>
              <a:rPr lang="en-US" sz="1300" dirty="0">
                <a:solidFill>
                  <a:srgbClr val="E0E0E0"/>
                </a:solidFill>
                <a:latin typeface="Calibri" pitchFamily="34" charset="0"/>
                <a:ea typeface="Calibri" pitchFamily="34" charset="-122"/>
                <a:cs typeface="Calibri" pitchFamily="34" charset="-120"/>
              </a:rPr>
              <a:t>After reporting, delete the email from your inbox and empty your trash to ensure it cannot be accessed later.
</a:t>
            </a:r>
            <a:endParaRPr lang="en-US" sz="1300" dirty="0"/>
          </a:p>
        </p:txBody>
      </p:sp>
      <p:sp>
        <p:nvSpPr>
          <p:cNvPr id="9" name="Text 7"/>
          <p:cNvSpPr/>
          <p:nvPr/>
        </p:nvSpPr>
        <p:spPr>
          <a:xfrm>
            <a:off x="761981" y="5125592"/>
            <a:ext cx="10667733" cy="380990"/>
          </a:xfrm>
          <a:prstGeom prst="rect">
            <a:avLst/>
          </a:prstGeom>
          <a:noFill/>
          <a:ln/>
        </p:spPr>
        <p:txBody>
          <a:bodyPr wrap="square" lIns="0" tIns="0" rIns="0" bIns="0" rtlCol="0" anchor="t"/>
          <a:lstStyle/>
          <a:p>
            <a:pPr marL="0" indent="0" algn="l">
              <a:lnSpc>
                <a:spcPct val="120000"/>
              </a:lnSpc>
              <a:buNone/>
            </a:pPr>
            <a:r>
              <a:rPr lang="en-US" sz="1300" b="1" dirty="0">
                <a:solidFill>
                  <a:srgbClr val="FFD700"/>
                </a:solidFill>
                <a:latin typeface="Calibri" pitchFamily="34" charset="0"/>
                <a:ea typeface="Calibri" pitchFamily="34" charset="-122"/>
                <a:cs typeface="Calibri" pitchFamily="34" charset="-120"/>
              </a:rPr>
              <a:t>4. Monitor Your Accounts
</a:t>
            </a:r>
            <a:endParaRPr lang="en-US" sz="1300" dirty="0"/>
          </a:p>
        </p:txBody>
      </p:sp>
      <p:sp>
        <p:nvSpPr>
          <p:cNvPr id="10" name="Text 8"/>
          <p:cNvSpPr/>
          <p:nvPr/>
        </p:nvSpPr>
        <p:spPr>
          <a:xfrm>
            <a:off x="761981" y="5468483"/>
            <a:ext cx="10667733" cy="800080"/>
          </a:xfrm>
          <a:prstGeom prst="rect">
            <a:avLst/>
          </a:prstGeom>
          <a:noFill/>
          <a:ln/>
        </p:spPr>
        <p:txBody>
          <a:bodyPr wrap="square" lIns="0" tIns="0" rIns="0" bIns="0" rtlCol="0" anchor="t"/>
          <a:lstStyle/>
          <a:p>
            <a:pPr marL="0" indent="0" algn="l">
              <a:lnSpc>
                <a:spcPct val="150000"/>
              </a:lnSpc>
              <a:buNone/>
            </a:pPr>
            <a:r>
              <a:rPr lang="en-US" sz="1300" dirty="0">
                <a:solidFill>
                  <a:srgbClr val="E0E0E0"/>
                </a:solidFill>
                <a:latin typeface="Calibri" pitchFamily="34" charset="0"/>
                <a:ea typeface="Calibri" pitchFamily="34" charset="-122"/>
                <a:cs typeface="Calibri" pitchFamily="34" charset="-120"/>
              </a:rPr>
              <a:t>Regularly check your accounts for any suspicious activity, such as unauthorized transactions or changes to your personal information.
</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1015975"/>
            <a:ext cx="10667733" cy="888978"/>
          </a:xfrm>
          <a:prstGeom prst="rect">
            <a:avLst/>
          </a:prstGeom>
          <a:noFill/>
          <a:ln/>
        </p:spPr>
        <p:txBody>
          <a:bodyPr wrap="square" lIns="0" tIns="0" rIns="0" bIns="0" rtlCol="0" anchor="t"/>
          <a:lstStyle/>
          <a:p>
            <a:pPr marL="0" indent="0" algn="l">
              <a:lnSpc>
                <a:spcPct val="130000"/>
              </a:lnSpc>
              <a:buNone/>
            </a:pPr>
            <a:r>
              <a:rPr lang="en-US" sz="2900" dirty="0">
                <a:solidFill>
                  <a:srgbClr val="00FFFF"/>
                </a:solidFill>
                <a:latin typeface="Calibri" pitchFamily="34" charset="0"/>
                <a:ea typeface="Calibri" pitchFamily="34" charset="-122"/>
                <a:cs typeface="Calibri" pitchFamily="34" charset="-120"/>
              </a:rPr>
              <a:t>The Alarming Impact of Phishing Attacks
</a:t>
            </a:r>
            <a:endParaRPr lang="en-US" sz="2900" dirty="0"/>
          </a:p>
        </p:txBody>
      </p:sp>
      <p:sp>
        <p:nvSpPr>
          <p:cNvPr id="3" name="Text 1"/>
          <p:cNvSpPr/>
          <p:nvPr/>
        </p:nvSpPr>
        <p:spPr>
          <a:xfrm>
            <a:off x="761981" y="1523962"/>
            <a:ext cx="3217253" cy="1015975"/>
          </a:xfrm>
          <a:prstGeom prst="rect">
            <a:avLst/>
          </a:prstGeom>
          <a:noFill/>
          <a:ln/>
        </p:spPr>
        <p:txBody>
          <a:bodyPr wrap="square" lIns="0" tIns="0" rIns="0" bIns="0" rtlCol="0" anchor="t"/>
          <a:lstStyle/>
          <a:p>
            <a:pPr marL="0" indent="0" algn="ctr">
              <a:lnSpc>
                <a:spcPct val="130000"/>
              </a:lnSpc>
              <a:buNone/>
            </a:pPr>
            <a:r>
              <a:rPr lang="en-US" sz="4300" b="1" dirty="0">
                <a:solidFill>
                  <a:srgbClr val="FFD700"/>
                </a:solidFill>
                <a:latin typeface="Calibri" pitchFamily="34" charset="0"/>
                <a:ea typeface="Calibri" pitchFamily="34" charset="-122"/>
                <a:cs typeface="Calibri" pitchFamily="34" charset="-120"/>
              </a:rPr>
              <a:t>90%
</a:t>
            </a:r>
            <a:endParaRPr lang="en-US" sz="4300" dirty="0"/>
          </a:p>
        </p:txBody>
      </p:sp>
      <p:sp>
        <p:nvSpPr>
          <p:cNvPr id="4" name="Text 2"/>
          <p:cNvSpPr/>
          <p:nvPr/>
        </p:nvSpPr>
        <p:spPr>
          <a:xfrm>
            <a:off x="761981" y="2603435"/>
            <a:ext cx="3217253" cy="380990"/>
          </a:xfrm>
          <a:prstGeom prst="rect">
            <a:avLst/>
          </a:prstGeom>
          <a:noFill/>
          <a:ln/>
        </p:spPr>
        <p:txBody>
          <a:bodyPr wrap="square" lIns="0" tIns="0" rIns="0" bIns="0" rtlCol="0" anchor="t"/>
          <a:lstStyle/>
          <a:p>
            <a:pPr marL="0" indent="0" algn="ctr">
              <a:lnSpc>
                <a:spcPct val="130000"/>
              </a:lnSpc>
              <a:buNone/>
            </a:pPr>
            <a:r>
              <a:rPr lang="en-US" sz="1600" dirty="0">
                <a:solidFill>
                  <a:srgbClr val="00FFFF"/>
                </a:solidFill>
                <a:latin typeface="Calibri" pitchFamily="34" charset="0"/>
                <a:ea typeface="Calibri" pitchFamily="34" charset="-122"/>
                <a:cs typeface="Calibri" pitchFamily="34" charset="-120"/>
              </a:rPr>
              <a:t>Data Breaches
</a:t>
            </a:r>
            <a:endParaRPr lang="en-US" sz="1600" dirty="0"/>
          </a:p>
        </p:txBody>
      </p:sp>
      <p:sp>
        <p:nvSpPr>
          <p:cNvPr id="5" name="Text 3"/>
          <p:cNvSpPr/>
          <p:nvPr/>
        </p:nvSpPr>
        <p:spPr>
          <a:xfrm>
            <a:off x="761981" y="3047924"/>
            <a:ext cx="3217253" cy="571486"/>
          </a:xfrm>
          <a:prstGeom prst="rect">
            <a:avLst/>
          </a:prstGeom>
          <a:noFill/>
          <a:ln/>
        </p:spPr>
        <p:txBody>
          <a:bodyPr wrap="square" lIns="0" tIns="0" rIns="0" bIns="0" rtlCol="0" anchor="t"/>
          <a:lstStyle/>
          <a:p>
            <a:pPr marL="0" indent="0" algn="ctr">
              <a:lnSpc>
                <a:spcPct val="130000"/>
              </a:lnSpc>
              <a:buNone/>
            </a:pPr>
            <a:r>
              <a:rPr lang="en-US" sz="1300" dirty="0">
                <a:solidFill>
                  <a:srgbClr val="FFFFFF"/>
                </a:solidFill>
                <a:latin typeface="Calibri" pitchFamily="34" charset="0"/>
                <a:ea typeface="Calibri" pitchFamily="34" charset="-122"/>
                <a:cs typeface="Calibri" pitchFamily="34" charset="-120"/>
              </a:rPr>
              <a:t>Over 90% of data breaches are caused by phishing attacks.
</a:t>
            </a:r>
            <a:endParaRPr lang="en-US" sz="1300" dirty="0"/>
          </a:p>
        </p:txBody>
      </p:sp>
      <p:sp>
        <p:nvSpPr>
          <p:cNvPr id="6" name="Text 4"/>
          <p:cNvSpPr/>
          <p:nvPr/>
        </p:nvSpPr>
        <p:spPr>
          <a:xfrm>
            <a:off x="4487221" y="1523962"/>
            <a:ext cx="3217253" cy="1015975"/>
          </a:xfrm>
          <a:prstGeom prst="rect">
            <a:avLst/>
          </a:prstGeom>
          <a:noFill/>
          <a:ln/>
        </p:spPr>
        <p:txBody>
          <a:bodyPr wrap="square" lIns="0" tIns="0" rIns="0" bIns="0" rtlCol="0" anchor="t"/>
          <a:lstStyle/>
          <a:p>
            <a:pPr marL="0" indent="0" algn="ctr">
              <a:lnSpc>
                <a:spcPct val="130000"/>
              </a:lnSpc>
              <a:buNone/>
            </a:pPr>
            <a:r>
              <a:rPr lang="en-US" sz="4300" b="1" dirty="0">
                <a:solidFill>
                  <a:srgbClr val="FFD700"/>
                </a:solidFill>
                <a:latin typeface="Calibri" pitchFamily="34" charset="0"/>
                <a:ea typeface="Calibri" pitchFamily="34" charset="-122"/>
                <a:cs typeface="Calibri" pitchFamily="34" charset="-120"/>
              </a:rPr>
              <a:t>220%
</a:t>
            </a:r>
            <a:endParaRPr lang="en-US" sz="4300" dirty="0"/>
          </a:p>
        </p:txBody>
      </p:sp>
      <p:sp>
        <p:nvSpPr>
          <p:cNvPr id="7" name="Text 5"/>
          <p:cNvSpPr/>
          <p:nvPr/>
        </p:nvSpPr>
        <p:spPr>
          <a:xfrm>
            <a:off x="4487221" y="2603435"/>
            <a:ext cx="3217253" cy="380990"/>
          </a:xfrm>
          <a:prstGeom prst="rect">
            <a:avLst/>
          </a:prstGeom>
          <a:noFill/>
          <a:ln/>
        </p:spPr>
        <p:txBody>
          <a:bodyPr wrap="square" lIns="0" tIns="0" rIns="0" bIns="0" rtlCol="0" anchor="t"/>
          <a:lstStyle/>
          <a:p>
            <a:pPr marL="0" indent="0" algn="ctr">
              <a:lnSpc>
                <a:spcPct val="130000"/>
              </a:lnSpc>
              <a:buNone/>
            </a:pPr>
            <a:r>
              <a:rPr lang="en-US" sz="1600" dirty="0">
                <a:solidFill>
                  <a:srgbClr val="00FFFF"/>
                </a:solidFill>
                <a:latin typeface="Calibri" pitchFamily="34" charset="0"/>
                <a:ea typeface="Calibri" pitchFamily="34" charset="-122"/>
                <a:cs typeface="Calibri" pitchFamily="34" charset="-120"/>
              </a:rPr>
              <a:t>Increase in Phishing Attacks
</a:t>
            </a:r>
            <a:endParaRPr lang="en-US" sz="1600" dirty="0"/>
          </a:p>
        </p:txBody>
      </p:sp>
      <p:sp>
        <p:nvSpPr>
          <p:cNvPr id="8" name="Text 6"/>
          <p:cNvSpPr/>
          <p:nvPr/>
        </p:nvSpPr>
        <p:spPr>
          <a:xfrm>
            <a:off x="4487221" y="3047924"/>
            <a:ext cx="3217253" cy="571486"/>
          </a:xfrm>
          <a:prstGeom prst="rect">
            <a:avLst/>
          </a:prstGeom>
          <a:noFill/>
          <a:ln/>
        </p:spPr>
        <p:txBody>
          <a:bodyPr wrap="square" lIns="0" tIns="0" rIns="0" bIns="0" rtlCol="0" anchor="t"/>
          <a:lstStyle/>
          <a:p>
            <a:pPr marL="0" indent="0" algn="ctr">
              <a:lnSpc>
                <a:spcPct val="130000"/>
              </a:lnSpc>
              <a:buNone/>
            </a:pPr>
            <a:r>
              <a:rPr lang="en-US" sz="1300" dirty="0">
                <a:solidFill>
                  <a:srgbClr val="FFFFFF"/>
                </a:solidFill>
                <a:latin typeface="Calibri" pitchFamily="34" charset="0"/>
                <a:ea typeface="Calibri" pitchFamily="34" charset="-122"/>
                <a:cs typeface="Calibri" pitchFamily="34" charset="-120"/>
              </a:rPr>
              <a:t>Phishing attacks surged by 220% in 2021 compared to 2020.
</a:t>
            </a:r>
            <a:endParaRPr lang="en-US" sz="1300" dirty="0"/>
          </a:p>
        </p:txBody>
      </p:sp>
      <p:sp>
        <p:nvSpPr>
          <p:cNvPr id="9" name="Text 7"/>
          <p:cNvSpPr/>
          <p:nvPr/>
        </p:nvSpPr>
        <p:spPr>
          <a:xfrm>
            <a:off x="8212461" y="1523962"/>
            <a:ext cx="3217253" cy="1015975"/>
          </a:xfrm>
          <a:prstGeom prst="rect">
            <a:avLst/>
          </a:prstGeom>
          <a:noFill/>
          <a:ln/>
        </p:spPr>
        <p:txBody>
          <a:bodyPr wrap="square" lIns="0" tIns="0" rIns="0" bIns="0" rtlCol="0" anchor="t"/>
          <a:lstStyle/>
          <a:p>
            <a:pPr marL="0" indent="0" algn="ctr">
              <a:lnSpc>
                <a:spcPct val="130000"/>
              </a:lnSpc>
              <a:buNone/>
            </a:pPr>
            <a:r>
              <a:rPr lang="en-US" sz="4300" b="1" dirty="0">
                <a:solidFill>
                  <a:srgbClr val="FFD700"/>
                </a:solidFill>
                <a:latin typeface="Calibri" pitchFamily="34" charset="0"/>
                <a:ea typeface="Calibri" pitchFamily="34" charset="-122"/>
                <a:cs typeface="Calibri" pitchFamily="34" charset="-120"/>
              </a:rPr>
              <a:t>$1.6M
</a:t>
            </a:r>
            <a:endParaRPr lang="en-US" sz="4300" dirty="0"/>
          </a:p>
        </p:txBody>
      </p:sp>
      <p:sp>
        <p:nvSpPr>
          <p:cNvPr id="10" name="Text 8"/>
          <p:cNvSpPr/>
          <p:nvPr/>
        </p:nvSpPr>
        <p:spPr>
          <a:xfrm>
            <a:off x="8212461" y="2603435"/>
            <a:ext cx="3217253" cy="380990"/>
          </a:xfrm>
          <a:prstGeom prst="rect">
            <a:avLst/>
          </a:prstGeom>
          <a:noFill/>
          <a:ln/>
        </p:spPr>
        <p:txBody>
          <a:bodyPr wrap="square" lIns="0" tIns="0" rIns="0" bIns="0" rtlCol="0" anchor="t"/>
          <a:lstStyle/>
          <a:p>
            <a:pPr marL="0" indent="0" algn="ctr">
              <a:lnSpc>
                <a:spcPct val="130000"/>
              </a:lnSpc>
              <a:buNone/>
            </a:pPr>
            <a:r>
              <a:rPr lang="en-US" sz="1600" dirty="0">
                <a:solidFill>
                  <a:srgbClr val="00FFFF"/>
                </a:solidFill>
                <a:latin typeface="Calibri" pitchFamily="34" charset="0"/>
                <a:ea typeface="Calibri" pitchFamily="34" charset="-122"/>
                <a:cs typeface="Calibri" pitchFamily="34" charset="-120"/>
              </a:rPr>
              <a:t>Average Cost
</a:t>
            </a:r>
            <a:endParaRPr lang="en-US" sz="1600" dirty="0"/>
          </a:p>
        </p:txBody>
      </p:sp>
      <p:sp>
        <p:nvSpPr>
          <p:cNvPr id="11" name="Text 9"/>
          <p:cNvSpPr/>
          <p:nvPr/>
        </p:nvSpPr>
        <p:spPr>
          <a:xfrm>
            <a:off x="8212461" y="3047924"/>
            <a:ext cx="3217253" cy="571486"/>
          </a:xfrm>
          <a:prstGeom prst="rect">
            <a:avLst/>
          </a:prstGeom>
          <a:noFill/>
          <a:ln/>
        </p:spPr>
        <p:txBody>
          <a:bodyPr wrap="square" lIns="0" tIns="0" rIns="0" bIns="0" rtlCol="0" anchor="t"/>
          <a:lstStyle/>
          <a:p>
            <a:pPr marL="0" indent="0" algn="ctr">
              <a:lnSpc>
                <a:spcPct val="130000"/>
              </a:lnSpc>
              <a:buNone/>
            </a:pPr>
            <a:r>
              <a:rPr lang="en-US" sz="1300" dirty="0">
                <a:solidFill>
                  <a:srgbClr val="FFFFFF"/>
                </a:solidFill>
                <a:latin typeface="Calibri" pitchFamily="34" charset="0"/>
                <a:ea typeface="Calibri" pitchFamily="34" charset="-122"/>
                <a:cs typeface="Calibri" pitchFamily="34" charset="-120"/>
              </a:rPr>
              <a:t>The average cost of a phishing attack for a business is $1.6 million.
</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888978" y="462268"/>
            <a:ext cx="10667733" cy="888978"/>
          </a:xfrm>
          <a:prstGeom prst="rect">
            <a:avLst/>
          </a:prstGeom>
          <a:noFill/>
          <a:ln/>
        </p:spPr>
        <p:txBody>
          <a:bodyPr wrap="square" lIns="0" tIns="0" rIns="0" bIns="0" rtlCol="0" anchor="t"/>
          <a:lstStyle/>
          <a:p>
            <a:pPr marL="0" indent="0" algn="ctr">
              <a:lnSpc>
                <a:spcPct val="130000"/>
              </a:lnSpc>
              <a:buNone/>
            </a:pPr>
            <a:r>
              <a:rPr lang="en-US" sz="2900" b="1" dirty="0">
                <a:solidFill>
                  <a:srgbClr val="00FFFF"/>
                </a:solidFill>
                <a:latin typeface="Calibri" pitchFamily="34" charset="0"/>
                <a:ea typeface="Calibri" pitchFamily="34" charset="-122"/>
                <a:cs typeface="Calibri" pitchFamily="34" charset="-120"/>
              </a:rPr>
              <a:t>Frequently Asked Questions
</a:t>
            </a:r>
            <a:endParaRPr lang="en-US" sz="2900" b="1" dirty="0"/>
          </a:p>
        </p:txBody>
      </p:sp>
      <p:sp>
        <p:nvSpPr>
          <p:cNvPr id="3" name="Text 1"/>
          <p:cNvSpPr/>
          <p:nvPr/>
        </p:nvSpPr>
        <p:spPr>
          <a:xfrm>
            <a:off x="761981" y="1269968"/>
            <a:ext cx="10667733" cy="380990"/>
          </a:xfrm>
          <a:prstGeom prst="rect">
            <a:avLst/>
          </a:prstGeom>
          <a:noFill/>
          <a:ln/>
        </p:spPr>
        <p:txBody>
          <a:bodyPr wrap="square" lIns="0" tIns="0" rIns="0" bIns="0" rtlCol="0" anchor="t"/>
          <a:lstStyle/>
          <a:p>
            <a:pPr marL="0" indent="0" algn="l">
              <a:lnSpc>
                <a:spcPct val="130000"/>
              </a:lnSpc>
              <a:buNone/>
            </a:pPr>
            <a:r>
              <a:rPr lang="en-US" sz="1300" dirty="0">
                <a:solidFill>
                  <a:srgbClr val="FFD700"/>
                </a:solidFill>
                <a:latin typeface="Calibri" pitchFamily="34" charset="0"/>
                <a:ea typeface="Calibri" pitchFamily="34" charset="-122"/>
                <a:cs typeface="Calibri" pitchFamily="34" charset="-120"/>
              </a:rPr>
              <a:t>Q: What should I do if I clicked a phishing link?
</a:t>
            </a:r>
            <a:endParaRPr lang="en-US" sz="1300" dirty="0"/>
          </a:p>
        </p:txBody>
      </p:sp>
      <p:sp>
        <p:nvSpPr>
          <p:cNvPr id="4" name="Text 2"/>
          <p:cNvSpPr/>
          <p:nvPr/>
        </p:nvSpPr>
        <p:spPr>
          <a:xfrm>
            <a:off x="1015975" y="1650959"/>
            <a:ext cx="10413740" cy="76198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A: Disconnect from the internet immediately and report the incident to IT to mitigate any potential damage.
</a:t>
            </a:r>
            <a:endParaRPr lang="en-US" sz="1300" dirty="0"/>
          </a:p>
        </p:txBody>
      </p:sp>
      <p:sp>
        <p:nvSpPr>
          <p:cNvPr id="5" name="Text 3"/>
          <p:cNvSpPr/>
          <p:nvPr/>
        </p:nvSpPr>
        <p:spPr>
          <a:xfrm>
            <a:off x="761981" y="2539937"/>
            <a:ext cx="10667733" cy="380990"/>
          </a:xfrm>
          <a:prstGeom prst="rect">
            <a:avLst/>
          </a:prstGeom>
          <a:noFill/>
          <a:ln/>
        </p:spPr>
        <p:txBody>
          <a:bodyPr wrap="square" lIns="0" tIns="0" rIns="0" bIns="0" rtlCol="0" anchor="t"/>
          <a:lstStyle/>
          <a:p>
            <a:pPr marL="0" indent="0" algn="l">
              <a:lnSpc>
                <a:spcPct val="130000"/>
              </a:lnSpc>
              <a:buNone/>
            </a:pPr>
            <a:r>
              <a:rPr lang="en-US" sz="1300" dirty="0">
                <a:solidFill>
                  <a:srgbClr val="FFD700"/>
                </a:solidFill>
                <a:latin typeface="Calibri" pitchFamily="34" charset="0"/>
                <a:ea typeface="Calibri" pitchFamily="34" charset="-122"/>
                <a:cs typeface="Calibri" pitchFamily="34" charset="-120"/>
              </a:rPr>
              <a:t>Q: Can phishing attacks be prevented?
</a:t>
            </a:r>
            <a:endParaRPr lang="en-US" sz="1300" dirty="0"/>
          </a:p>
        </p:txBody>
      </p:sp>
      <p:sp>
        <p:nvSpPr>
          <p:cNvPr id="6" name="Text 4"/>
          <p:cNvSpPr/>
          <p:nvPr/>
        </p:nvSpPr>
        <p:spPr>
          <a:xfrm>
            <a:off x="1015975" y="2920927"/>
            <a:ext cx="10413740" cy="76198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A: Yes, phishing attacks can be significantly reduced through regular training, increased awareness, and implementing robust security measures.
</a:t>
            </a:r>
            <a:endParaRPr lang="en-US" sz="1300" dirty="0"/>
          </a:p>
        </p:txBody>
      </p:sp>
      <p:sp>
        <p:nvSpPr>
          <p:cNvPr id="7" name="Text 5"/>
          <p:cNvSpPr/>
          <p:nvPr/>
        </p:nvSpPr>
        <p:spPr>
          <a:xfrm>
            <a:off x="761981" y="3809905"/>
            <a:ext cx="10667733" cy="462268"/>
          </a:xfrm>
          <a:prstGeom prst="rect">
            <a:avLst/>
          </a:prstGeom>
          <a:noFill/>
          <a:ln/>
        </p:spPr>
        <p:txBody>
          <a:bodyPr wrap="square" lIns="0" tIns="0" rIns="0" bIns="0" rtlCol="0" anchor="t"/>
          <a:lstStyle/>
          <a:p>
            <a:pPr marL="0" indent="0" algn="l">
              <a:lnSpc>
                <a:spcPct val="130000"/>
              </a:lnSpc>
              <a:buNone/>
            </a:pPr>
            <a:r>
              <a:rPr lang="en-US" sz="1300" dirty="0">
                <a:solidFill>
                  <a:srgbClr val="FFD700"/>
                </a:solidFill>
                <a:latin typeface="Calibri" pitchFamily="34" charset="0"/>
                <a:ea typeface="Calibri" pitchFamily="34" charset="-122"/>
                <a:cs typeface="Calibri" pitchFamily="34" charset="-120"/>
              </a:rPr>
              <a:t>Q: How often should phishing training be conducted?
</a:t>
            </a:r>
            <a:endParaRPr lang="en-US" sz="1300" dirty="0"/>
          </a:p>
        </p:txBody>
      </p:sp>
      <p:sp>
        <p:nvSpPr>
          <p:cNvPr id="8" name="Text 6"/>
          <p:cNvSpPr/>
          <p:nvPr/>
        </p:nvSpPr>
        <p:spPr>
          <a:xfrm>
            <a:off x="1015975" y="4190895"/>
            <a:ext cx="10413740" cy="76198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A: Phishing training should be conducted at least quarterly to ensure ongoing awareness and preparedness among employees.
</a:t>
            </a:r>
            <a:endParaRPr lang="en-US" sz="1300" dirty="0"/>
          </a:p>
        </p:txBody>
      </p:sp>
      <p:sp>
        <p:nvSpPr>
          <p:cNvPr id="9" name="Text 7"/>
          <p:cNvSpPr/>
          <p:nvPr/>
        </p:nvSpPr>
        <p:spPr>
          <a:xfrm>
            <a:off x="761981" y="5079873"/>
            <a:ext cx="10667733" cy="380990"/>
          </a:xfrm>
          <a:prstGeom prst="rect">
            <a:avLst/>
          </a:prstGeom>
          <a:noFill/>
          <a:ln/>
        </p:spPr>
        <p:txBody>
          <a:bodyPr wrap="square" lIns="0" tIns="0" rIns="0" bIns="0" rtlCol="0" anchor="t"/>
          <a:lstStyle/>
          <a:p>
            <a:pPr marL="0" indent="0" algn="l">
              <a:lnSpc>
                <a:spcPct val="130000"/>
              </a:lnSpc>
              <a:buNone/>
            </a:pPr>
            <a:r>
              <a:rPr lang="en-US" sz="1300" dirty="0">
                <a:solidFill>
                  <a:srgbClr val="FFD700"/>
                </a:solidFill>
                <a:latin typeface="Calibri" pitchFamily="34" charset="0"/>
                <a:ea typeface="Calibri" pitchFamily="34" charset="-122"/>
                <a:cs typeface="Calibri" pitchFamily="34" charset="-120"/>
              </a:rPr>
              <a:t>Q: What are some signs of a phishing email?
</a:t>
            </a:r>
            <a:endParaRPr lang="en-US" sz="1300" dirty="0"/>
          </a:p>
        </p:txBody>
      </p:sp>
      <p:sp>
        <p:nvSpPr>
          <p:cNvPr id="10" name="Text 8"/>
          <p:cNvSpPr/>
          <p:nvPr/>
        </p:nvSpPr>
        <p:spPr>
          <a:xfrm>
            <a:off x="1015975" y="5460863"/>
            <a:ext cx="10413740" cy="76198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A: Look for generic greetings, urgent language, suspicious links, and unexpected attachments as common indicators of phishing attempts.
</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1523962" y="2285943"/>
            <a:ext cx="9143771" cy="2285943"/>
          </a:xfrm>
          <a:prstGeom prst="rect">
            <a:avLst/>
          </a:prstGeom>
          <a:noFill/>
          <a:ln/>
        </p:spPr>
        <p:txBody>
          <a:bodyPr wrap="square" lIns="0" tIns="0" rIns="0" bIns="0" rtlCol="0" anchor="t"/>
          <a:lstStyle/>
          <a:p>
            <a:pPr marL="0" indent="0" algn="ctr">
              <a:lnSpc>
                <a:spcPct val="130000"/>
              </a:lnSpc>
              <a:buNone/>
            </a:pPr>
            <a:r>
              <a:rPr lang="en-US" sz="2700" i="1" dirty="0">
                <a:solidFill>
                  <a:srgbClr val="00FFFF"/>
                </a:solidFill>
                <a:latin typeface="Calibri" pitchFamily="34" charset="0"/>
                <a:ea typeface="Calibri" pitchFamily="34" charset="-122"/>
                <a:cs typeface="Calibri" pitchFamily="34" charset="-120"/>
              </a:rPr>
              <a:t>"Phishing is the gateway to many cyber attacks; awareness is the first line of defense."
</a:t>
            </a:r>
            <a:endParaRPr lang="en-US" sz="2700" dirty="0"/>
          </a:p>
        </p:txBody>
      </p:sp>
      <p:sp>
        <p:nvSpPr>
          <p:cNvPr id="3" name="Text 1"/>
          <p:cNvSpPr/>
          <p:nvPr/>
        </p:nvSpPr>
        <p:spPr>
          <a:xfrm>
            <a:off x="1523962" y="4825879"/>
            <a:ext cx="9143771" cy="507987"/>
          </a:xfrm>
          <a:prstGeom prst="rect">
            <a:avLst/>
          </a:prstGeom>
          <a:noFill/>
          <a:ln/>
        </p:spPr>
        <p:txBody>
          <a:bodyPr wrap="square" lIns="0" tIns="0" rIns="0" bIns="0" rtlCol="0" anchor="t"/>
          <a:lstStyle/>
          <a:p>
            <a:pPr marL="0" indent="0" algn="ctr">
              <a:lnSpc>
                <a:spcPct val="130000"/>
              </a:lnSpc>
              <a:buNone/>
            </a:pPr>
            <a:r>
              <a:rPr lang="en-US" sz="1600" dirty="0">
                <a:solidFill>
                  <a:srgbClr val="FFD700"/>
                </a:solidFill>
                <a:latin typeface="Calibri" pitchFamily="34" charset="0"/>
                <a:ea typeface="Calibri" pitchFamily="34" charset="-122"/>
                <a:cs typeface="Calibri" pitchFamily="34" charset="-120"/>
              </a:rPr>
              <a:t>— Cybersecurity Expert
</a:t>
            </a:r>
            <a:endParaRPr lang="en-US" sz="1600" dirty="0"/>
          </a:p>
        </p:txBody>
      </p:sp>
      <p:sp>
        <p:nvSpPr>
          <p:cNvPr id="4" name="Text 2"/>
          <p:cNvSpPr/>
          <p:nvPr/>
        </p:nvSpPr>
        <p:spPr>
          <a:xfrm>
            <a:off x="1523962" y="5460863"/>
            <a:ext cx="9143771" cy="761981"/>
          </a:xfrm>
          <a:prstGeom prst="rect">
            <a:avLst/>
          </a:prstGeom>
          <a:noFill/>
          <a:ln/>
        </p:spPr>
        <p:txBody>
          <a:bodyPr wrap="square" lIns="0" tIns="0" rIns="0" bIns="0" rtlCol="0" anchor="t"/>
          <a:lstStyle/>
          <a:p>
            <a:pPr marL="0" indent="0" algn="ctr">
              <a:lnSpc>
                <a:spcPct val="130000"/>
              </a:lnSpc>
              <a:buNone/>
            </a:pPr>
            <a:r>
              <a:rPr lang="en-US" sz="1300" dirty="0">
                <a:solidFill>
                  <a:srgbClr val="FFFFFF"/>
                </a:solidFill>
                <a:latin typeface="Calibri" pitchFamily="34" charset="0"/>
                <a:ea typeface="Calibri" pitchFamily="34" charset="-122"/>
                <a:cs typeface="Calibri" pitchFamily="34" charset="-120"/>
              </a:rPr>
              <a:t>This quote emphasizes the critical role of awareness in preventing phishing attacks and safeguarding sensitive information.
</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705424"/>
            <a:ext cx="10667733" cy="888978"/>
          </a:xfrm>
          <a:prstGeom prst="rect">
            <a:avLst/>
          </a:prstGeom>
          <a:noFill/>
          <a:ln/>
        </p:spPr>
        <p:txBody>
          <a:bodyPr wrap="square" lIns="0" tIns="0" rIns="0" bIns="0" rtlCol="0" anchor="t"/>
          <a:lstStyle/>
          <a:p>
            <a:pPr marL="0" indent="0" algn="ctr">
              <a:lnSpc>
                <a:spcPct val="130000"/>
              </a:lnSpc>
              <a:buNone/>
            </a:pPr>
            <a:r>
              <a:rPr lang="en-US" sz="2900" b="1" dirty="0">
                <a:solidFill>
                  <a:srgbClr val="00FFFF"/>
                </a:solidFill>
                <a:latin typeface="Calibri" pitchFamily="34" charset="0"/>
                <a:ea typeface="Calibri" pitchFamily="34" charset="-122"/>
                <a:cs typeface="Calibri" pitchFamily="34" charset="-120"/>
              </a:rPr>
              <a:t>Phishing vs. Spear Phishing
</a:t>
            </a:r>
            <a:endParaRPr lang="en-US" sz="2900" b="1" dirty="0"/>
          </a:p>
        </p:txBody>
      </p:sp>
      <p:sp>
        <p:nvSpPr>
          <p:cNvPr id="3" name="Text 1"/>
          <p:cNvSpPr/>
          <p:nvPr/>
        </p:nvSpPr>
        <p:spPr>
          <a:xfrm>
            <a:off x="761981" y="2285943"/>
            <a:ext cx="4952876" cy="444489"/>
          </a:xfrm>
          <a:prstGeom prst="rect">
            <a:avLst/>
          </a:prstGeom>
          <a:noFill/>
          <a:ln/>
        </p:spPr>
        <p:txBody>
          <a:bodyPr wrap="square" lIns="0" tIns="0" rIns="0" bIns="0" rtlCol="0" anchor="t"/>
          <a:lstStyle/>
          <a:p>
            <a:pPr marL="0" indent="0" algn="l">
              <a:lnSpc>
                <a:spcPct val="130000"/>
              </a:lnSpc>
              <a:buNone/>
            </a:pPr>
            <a:r>
              <a:rPr lang="en-US" sz="1400" b="1" dirty="0">
                <a:solidFill>
                  <a:srgbClr val="FFD700"/>
                </a:solidFill>
                <a:latin typeface="Calibri" pitchFamily="34" charset="0"/>
                <a:ea typeface="Calibri" pitchFamily="34" charset="-122"/>
                <a:cs typeface="Calibri" pitchFamily="34" charset="-120"/>
              </a:rPr>
              <a:t>General Phishing
</a:t>
            </a:r>
            <a:endParaRPr lang="en-US" sz="1400" dirty="0"/>
          </a:p>
        </p:txBody>
      </p:sp>
      <p:sp>
        <p:nvSpPr>
          <p:cNvPr id="4" name="Text 2"/>
          <p:cNvSpPr/>
          <p:nvPr/>
        </p:nvSpPr>
        <p:spPr>
          <a:xfrm>
            <a:off x="761981" y="2920927"/>
            <a:ext cx="4952876" cy="634984"/>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 Broad attacks targeting a large number of users.
</a:t>
            </a:r>
            <a:endParaRPr lang="en-US" sz="1300" dirty="0"/>
          </a:p>
        </p:txBody>
      </p:sp>
      <p:sp>
        <p:nvSpPr>
          <p:cNvPr id="5" name="Text 3"/>
          <p:cNvSpPr/>
          <p:nvPr/>
        </p:nvSpPr>
        <p:spPr>
          <a:xfrm>
            <a:off x="761981" y="3682908"/>
            <a:ext cx="4952876" cy="634984"/>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 Often uses generic messages to lure victims.
</a:t>
            </a:r>
            <a:endParaRPr lang="en-US" sz="1300" dirty="0"/>
          </a:p>
        </p:txBody>
      </p:sp>
      <p:sp>
        <p:nvSpPr>
          <p:cNvPr id="6" name="Text 4"/>
          <p:cNvSpPr/>
          <p:nvPr/>
        </p:nvSpPr>
        <p:spPr>
          <a:xfrm>
            <a:off x="761981" y="4444889"/>
            <a:ext cx="4952876" cy="634984"/>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 Commonly distributed via email, social media, or messaging apps.
</a:t>
            </a:r>
            <a:endParaRPr lang="en-US" sz="1300" dirty="0"/>
          </a:p>
        </p:txBody>
      </p:sp>
      <p:sp>
        <p:nvSpPr>
          <p:cNvPr id="7" name="Text 5"/>
          <p:cNvSpPr/>
          <p:nvPr/>
        </p:nvSpPr>
        <p:spPr>
          <a:xfrm>
            <a:off x="761981" y="5206870"/>
            <a:ext cx="4952876" cy="634984"/>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 Relies on mass appeal and urgency to prompt action.
</a:t>
            </a:r>
            <a:endParaRPr lang="en-US" sz="1300" dirty="0"/>
          </a:p>
        </p:txBody>
      </p:sp>
      <p:sp>
        <p:nvSpPr>
          <p:cNvPr id="8" name="Text 6"/>
          <p:cNvSpPr/>
          <p:nvPr/>
        </p:nvSpPr>
        <p:spPr>
          <a:xfrm>
            <a:off x="761981" y="5968851"/>
            <a:ext cx="4952876" cy="634984"/>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 Examples include fake lottery wins or account verifications.
</a:t>
            </a:r>
            <a:endParaRPr lang="en-US" sz="1300" dirty="0"/>
          </a:p>
        </p:txBody>
      </p:sp>
      <p:sp>
        <p:nvSpPr>
          <p:cNvPr id="9" name="Text 7"/>
          <p:cNvSpPr/>
          <p:nvPr/>
        </p:nvSpPr>
        <p:spPr>
          <a:xfrm>
            <a:off x="6857829" y="2285943"/>
            <a:ext cx="4952876" cy="444489"/>
          </a:xfrm>
          <a:prstGeom prst="rect">
            <a:avLst/>
          </a:prstGeom>
          <a:noFill/>
          <a:ln/>
        </p:spPr>
        <p:txBody>
          <a:bodyPr wrap="square" lIns="0" tIns="0" rIns="0" bIns="0" rtlCol="0" anchor="t"/>
          <a:lstStyle/>
          <a:p>
            <a:pPr marL="0" indent="0" algn="l">
              <a:lnSpc>
                <a:spcPct val="130000"/>
              </a:lnSpc>
              <a:buNone/>
            </a:pPr>
            <a:r>
              <a:rPr lang="en-US" sz="1400" b="1" dirty="0">
                <a:solidFill>
                  <a:srgbClr val="FFD700"/>
                </a:solidFill>
                <a:latin typeface="Calibri" pitchFamily="34" charset="0"/>
                <a:ea typeface="Calibri" pitchFamily="34" charset="-122"/>
                <a:cs typeface="Calibri" pitchFamily="34" charset="-120"/>
              </a:rPr>
              <a:t>Spear Phishing
</a:t>
            </a:r>
            <a:endParaRPr lang="en-US" sz="1400" dirty="0"/>
          </a:p>
        </p:txBody>
      </p:sp>
      <p:sp>
        <p:nvSpPr>
          <p:cNvPr id="10" name="Text 8"/>
          <p:cNvSpPr/>
          <p:nvPr/>
        </p:nvSpPr>
        <p:spPr>
          <a:xfrm>
            <a:off x="6857829" y="2920927"/>
            <a:ext cx="4952876" cy="634984"/>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 Targeted attacks aimed at specific individuals or organizations.
</a:t>
            </a:r>
            <a:endParaRPr lang="en-US" sz="1300" dirty="0"/>
          </a:p>
        </p:txBody>
      </p:sp>
      <p:sp>
        <p:nvSpPr>
          <p:cNvPr id="11" name="Text 9"/>
          <p:cNvSpPr/>
          <p:nvPr/>
        </p:nvSpPr>
        <p:spPr>
          <a:xfrm>
            <a:off x="6857829" y="3682908"/>
            <a:ext cx="4952876" cy="634984"/>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 Personalized messages that appear legitimate to the victim.
</a:t>
            </a:r>
            <a:endParaRPr lang="en-US" sz="1300" dirty="0"/>
          </a:p>
        </p:txBody>
      </p:sp>
      <p:sp>
        <p:nvSpPr>
          <p:cNvPr id="12" name="Text 10"/>
          <p:cNvSpPr/>
          <p:nvPr/>
        </p:nvSpPr>
        <p:spPr>
          <a:xfrm>
            <a:off x="6857829" y="4444889"/>
            <a:ext cx="4952876" cy="634984"/>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 Often involves research on the target to increase credibility.
</a:t>
            </a:r>
            <a:endParaRPr lang="en-US" sz="1300" dirty="0"/>
          </a:p>
        </p:txBody>
      </p:sp>
      <p:sp>
        <p:nvSpPr>
          <p:cNvPr id="13" name="Text 11"/>
          <p:cNvSpPr/>
          <p:nvPr/>
        </p:nvSpPr>
        <p:spPr>
          <a:xfrm>
            <a:off x="6857829" y="5206870"/>
            <a:ext cx="4952876" cy="634984"/>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 Can lead to significant data breaches or financial loss.
</a:t>
            </a:r>
            <a:endParaRPr lang="en-US" sz="1300" dirty="0"/>
          </a:p>
        </p:txBody>
      </p:sp>
      <p:sp>
        <p:nvSpPr>
          <p:cNvPr id="14" name="Text 12"/>
          <p:cNvSpPr/>
          <p:nvPr/>
        </p:nvSpPr>
        <p:spPr>
          <a:xfrm>
            <a:off x="6857829" y="5968851"/>
            <a:ext cx="4952876" cy="634984"/>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 Examples include CEO fraud or targeted business emails.
</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3809905"/>
            <a:ext cx="10667733" cy="761981"/>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Understanding Phishing Threats
</a:t>
            </a:r>
            <a:endParaRPr lang="en-US" sz="2900" dirty="0"/>
          </a:p>
        </p:txBody>
      </p:sp>
      <p:sp>
        <p:nvSpPr>
          <p:cNvPr id="3" name="Text 1"/>
          <p:cNvSpPr/>
          <p:nvPr/>
        </p:nvSpPr>
        <p:spPr>
          <a:xfrm>
            <a:off x="1015975" y="4825879"/>
            <a:ext cx="10159746" cy="1523962"/>
          </a:xfrm>
          <a:prstGeom prst="rect">
            <a:avLst/>
          </a:prstGeom>
          <a:noFill/>
          <a:ln/>
        </p:spPr>
        <p:txBody>
          <a:bodyPr wrap="square" lIns="0" tIns="0" rIns="0" bIns="0" rtlCol="0" anchor="t"/>
          <a:lstStyle/>
          <a:p>
            <a:pPr marL="0" indent="0" algn="ctr">
              <a:lnSpc>
                <a:spcPct val="150000"/>
              </a:lnSpc>
              <a:buNone/>
            </a:pPr>
            <a:r>
              <a:rPr lang="en-US" sz="1300" dirty="0">
                <a:solidFill>
                  <a:srgbClr val="E0E0E0"/>
                </a:solidFill>
                <a:latin typeface="Calibri" pitchFamily="34" charset="0"/>
                <a:ea typeface="Calibri" pitchFamily="34" charset="-122"/>
                <a:cs typeface="Calibri" pitchFamily="34" charset="-120"/>
              </a:rPr>
              <a:t>This image illustrates various phishing tactics, including email spoofing and fake websites. Key takeaway: Recognizing these threats is crucial for preventing data breaches and protecting sensitive information.
</a:t>
            </a:r>
            <a:endParaRPr lang="en-US" sz="1300" dirty="0"/>
          </a:p>
        </p:txBody>
      </p:sp>
      <p:pic>
        <p:nvPicPr>
          <p:cNvPr id="4" name="Image 0" descr="https://images.unsplash.com/photo-1605360846282-023d330bad8d?crop=entropy&amp;cs=tinysrgb&amp;fit=max&amp;fm=jpg&amp;ixid=M3w2Njc0MzZ8MHwxfHNlYXJjaHw0fHxwaGlzaGluZyUyMHRhY3RpY3MlMjBlbWFpbCUyMHNwb29maW5nJTIwZmFrZSUyMHdlYnNpdGVzfGVufDB8fHx8MTc2NzAzMjUzNHww&amp;ixlib=rb-4.1.0&amp;q=80&amp;w=1080"/>
          <p:cNvPicPr>
            <a:picLocks noChangeAspect="1"/>
          </p:cNvPicPr>
          <p:nvPr/>
        </p:nvPicPr>
        <p:blipFill>
          <a:blip r:embed="rId3"/>
          <a:srcRect/>
          <a:stretch/>
        </p:blipFill>
        <p:spPr>
          <a:xfrm>
            <a:off x="0" y="0"/>
            <a:ext cx="12145975" cy="355591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1015975" y="2285943"/>
            <a:ext cx="10159746" cy="1015975"/>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Key Takeaways
</a:t>
            </a:r>
            <a:endParaRPr lang="en-US" sz="2900" dirty="0"/>
          </a:p>
        </p:txBody>
      </p:sp>
      <p:sp>
        <p:nvSpPr>
          <p:cNvPr id="3" name="Text 1"/>
          <p:cNvSpPr/>
          <p:nvPr/>
        </p:nvSpPr>
        <p:spPr>
          <a:xfrm>
            <a:off x="1523962" y="3555911"/>
            <a:ext cx="9143771" cy="2666933"/>
          </a:xfrm>
          <a:prstGeom prst="rect">
            <a:avLst/>
          </a:prstGeom>
          <a:noFill/>
          <a:ln/>
        </p:spPr>
        <p:txBody>
          <a:bodyPr wrap="square" lIns="0" tIns="0" rIns="0" bIns="0" rtlCol="0" anchor="t"/>
          <a:lstStyle/>
          <a:p>
            <a:pPr marL="0" indent="0" algn="ctr">
              <a:lnSpc>
                <a:spcPct val="150000"/>
              </a:lnSpc>
              <a:buNone/>
            </a:pPr>
            <a:r>
              <a:rPr lang="en-US" sz="1300" dirty="0">
                <a:solidFill>
                  <a:srgbClr val="E0E0E0"/>
                </a:solidFill>
                <a:latin typeface="Calibri" pitchFamily="34" charset="0"/>
                <a:ea typeface="Calibri" pitchFamily="34" charset="-122"/>
                <a:cs typeface="Calibri" pitchFamily="34" charset="-120"/>
              </a:rPr>
              <a:t>In conclusion, understanding phishing tactics is crucial for safeguarding sensitive information. Recognize red flags in emails and websites, and employ best practices like multi-factor authentication. Engage in continuous training to stay updated on evolving threats. By fostering a culture of vigilance, organizations can significantly reduce the risk of successful phishing attacks. Let’s commit to proactive measures and enhance our defenses against these persistent threats.
</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0D1A"/>
        </a:solidFill>
        <a:effectLst/>
      </p:bgPr>
    </p:bg>
    <p:spTree>
      <p:nvGrpSpPr>
        <p:cNvPr id="1" name="">
          <a:extLst>
            <a:ext uri="{FF2B5EF4-FFF2-40B4-BE49-F238E27FC236}">
              <a16:creationId xmlns:a16="http://schemas.microsoft.com/office/drawing/2014/main" id="{EED7D665-2DA0-CB96-5C17-714A2DD870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304BC0E-93C2-BC05-67C4-B042F98A1AB3}"/>
              </a:ext>
            </a:extLst>
          </p:cNvPr>
          <p:cNvSpPr/>
          <p:nvPr/>
        </p:nvSpPr>
        <p:spPr>
          <a:xfrm>
            <a:off x="1015975" y="2631000"/>
            <a:ext cx="10159746" cy="1015975"/>
          </a:xfrm>
          <a:prstGeom prst="rect">
            <a:avLst/>
          </a:prstGeom>
          <a:noFill/>
          <a:ln/>
        </p:spPr>
        <p:txBody>
          <a:bodyPr wrap="square" lIns="0" tIns="0" rIns="0" bIns="0" rtlCol="0" anchor="t"/>
          <a:lstStyle/>
          <a:p>
            <a:pPr marL="0" indent="0" algn="ctr">
              <a:lnSpc>
                <a:spcPct val="120000"/>
              </a:lnSpc>
              <a:buNone/>
            </a:pPr>
            <a:r>
              <a:rPr lang="en-US" sz="6600" b="1" dirty="0">
                <a:solidFill>
                  <a:srgbClr val="00FFFF"/>
                </a:solidFill>
                <a:latin typeface="Calibri" pitchFamily="34" charset="0"/>
                <a:ea typeface="Calibri" pitchFamily="34" charset="-122"/>
                <a:cs typeface="Calibri" pitchFamily="34" charset="-120"/>
              </a:rPr>
              <a:t>THANK YOU
</a:t>
            </a:r>
            <a:endParaRPr lang="en-US" sz="6600" dirty="0"/>
          </a:p>
        </p:txBody>
      </p:sp>
      <p:sp>
        <p:nvSpPr>
          <p:cNvPr id="3" name="Text 1">
            <a:extLst>
              <a:ext uri="{FF2B5EF4-FFF2-40B4-BE49-F238E27FC236}">
                <a16:creationId xmlns:a16="http://schemas.microsoft.com/office/drawing/2014/main" id="{49EB2281-3AF9-8FB3-24CB-365D7E10AEA6}"/>
              </a:ext>
            </a:extLst>
          </p:cNvPr>
          <p:cNvSpPr/>
          <p:nvPr/>
        </p:nvSpPr>
        <p:spPr>
          <a:xfrm>
            <a:off x="1523962" y="3555911"/>
            <a:ext cx="9143771" cy="2666933"/>
          </a:xfrm>
          <a:prstGeom prst="rect">
            <a:avLst/>
          </a:prstGeom>
          <a:noFill/>
          <a:ln/>
        </p:spPr>
        <p:txBody>
          <a:bodyPr wrap="square" lIns="0" tIns="0" rIns="0" bIns="0" rtlCol="0" anchor="t"/>
          <a:lstStyle/>
          <a:p>
            <a:pPr marL="0" indent="0" algn="ctr">
              <a:lnSpc>
                <a:spcPct val="150000"/>
              </a:lnSpc>
              <a:buNone/>
            </a:pPr>
            <a:endParaRPr lang="en-US" sz="1300" dirty="0"/>
          </a:p>
        </p:txBody>
      </p:sp>
    </p:spTree>
    <p:extLst>
      <p:ext uri="{BB962C8B-B14F-4D97-AF65-F5344CB8AC3E}">
        <p14:creationId xmlns:p14="http://schemas.microsoft.com/office/powerpoint/2010/main" val="2421716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1583</Words>
  <Application>Microsoft Office PowerPoint</Application>
  <PresentationFormat>Widescreen</PresentationFormat>
  <Paragraphs>142</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mahi patel</cp:lastModifiedBy>
  <cp:revision>3</cp:revision>
  <dcterms:created xsi:type="dcterms:W3CDTF">2025-12-29T18:23:33Z</dcterms:created>
  <dcterms:modified xsi:type="dcterms:W3CDTF">2025-12-30T08:07:53Z</dcterms:modified>
</cp:coreProperties>
</file>